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標楷體" panose="03000509000000000000" pitchFamily="65" charset="-120"/>
      <p:regular r:id="rId18"/>
    </p:embeddedFont>
    <p:embeddedFont>
      <p:font typeface="Calibri" panose="020F0502020204030204" pitchFamily="34" charset="0"/>
      <p:regular r:id="rId19"/>
      <p:bold r:id="rId20"/>
      <p:italic r:id="rId21"/>
      <p:boldItalic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9" d="100"/>
          <a:sy n="39" d="100"/>
        </p:scale>
        <p:origin x="9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標楷體" panose="03000509000000000000" pitchFamily="65" charset="-120"/>
              </a:defRPr>
            </a:lvl1pPr>
          </a:lstStyle>
          <a:p>
            <a:fld id="{1D8BD707-D9CF-40AE-B4C6-C98DA3205C09}" type="datetimeFigureOut">
              <a:rPr lang="en-US" smtClean="0"/>
              <a:pPr/>
              <a:t>1/5/2024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標楷體" panose="03000509000000000000" pitchFamily="65" charset="-12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標楷體" panose="03000509000000000000" pitchFamily="65" charset="-12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標楷體" panose="03000509000000000000" pitchFamily="65" charset="-12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標楷體" panose="03000509000000000000" pitchFamily="65" charset="-12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標楷體" panose="03000509000000000000" pitchFamily="65" charset="-12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標楷體" panose="03000509000000000000" pitchFamily="65" charset="-12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標楷體" panose="03000509000000000000" pitchFamily="65" charset="-12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標楷體" panose="03000509000000000000" pitchFamily="65" charset="-12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a:off x="1986138" y="1105757"/>
            <a:ext cx="11417008" cy="0"/>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AutoShape 3"/>
          <p:cNvSpPr/>
          <p:nvPr/>
        </p:nvSpPr>
        <p:spPr>
          <a:xfrm>
            <a:off x="742303" y="8586508"/>
            <a:ext cx="16803394" cy="34583"/>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4" name="TextBox 4"/>
          <p:cNvSpPr txBox="1"/>
          <p:nvPr/>
        </p:nvSpPr>
        <p:spPr>
          <a:xfrm>
            <a:off x="1798417" y="3742695"/>
            <a:ext cx="14691167" cy="2896859"/>
          </a:xfrm>
          <a:prstGeom prst="rect">
            <a:avLst/>
          </a:prstGeom>
        </p:spPr>
        <p:txBody>
          <a:bodyPr lIns="0" tIns="0" rIns="0" bIns="0" rtlCol="0" anchor="t">
            <a:spAutoFit/>
          </a:bodyPr>
          <a:lstStyle/>
          <a:p>
            <a:pPr algn="ctr">
              <a:lnSpc>
                <a:spcPts val="11300"/>
              </a:lnSpc>
            </a:pPr>
            <a:r>
              <a:rPr lang="en-US" sz="10367" spc="-207" dirty="0" err="1">
                <a:solidFill>
                  <a:srgbClr val="693A20"/>
                </a:solidFill>
                <a:latin typeface="標楷體" panose="03000509000000000000" pitchFamily="65" charset="-120"/>
                <a:ea typeface="標楷體" panose="03000509000000000000" pitchFamily="65" charset="-120"/>
                <a:cs typeface="芫荽" panose="02020500000000000000" charset="-120"/>
              </a:rPr>
              <a:t>利用食材查詢</a:t>
            </a:r>
            <a:endParaRPr lang="en-US" sz="10367" spc="-207" dirty="0">
              <a:solidFill>
                <a:srgbClr val="693A20"/>
              </a:solidFill>
              <a:latin typeface="標楷體" panose="03000509000000000000" pitchFamily="65" charset="-120"/>
              <a:ea typeface="標楷體" panose="03000509000000000000" pitchFamily="65" charset="-120"/>
              <a:cs typeface="芫荽" panose="02020500000000000000" charset="-120"/>
            </a:endParaRPr>
          </a:p>
          <a:p>
            <a:pPr marL="0" lvl="0" indent="0" algn="ctr">
              <a:lnSpc>
                <a:spcPts val="11191"/>
              </a:lnSpc>
            </a:pPr>
            <a:r>
              <a:rPr lang="en-US" sz="10267" spc="-205" dirty="0" err="1">
                <a:solidFill>
                  <a:srgbClr val="693A20"/>
                </a:solidFill>
                <a:latin typeface="標楷體" panose="03000509000000000000" pitchFamily="65" charset="-120"/>
                <a:ea typeface="標楷體" panose="03000509000000000000" pitchFamily="65" charset="-120"/>
                <a:cs typeface="芫荽" panose="02020500000000000000" charset="-120"/>
              </a:rPr>
              <a:t>對應資料庫中之食譜</a:t>
            </a:r>
            <a:endParaRPr lang="en-US" sz="10267" spc="-205" dirty="0">
              <a:solidFill>
                <a:srgbClr val="693A20"/>
              </a:solidFill>
              <a:latin typeface="標楷體" panose="03000509000000000000" pitchFamily="65" charset="-120"/>
              <a:ea typeface="標楷體" panose="03000509000000000000" pitchFamily="65" charset="-120"/>
              <a:cs typeface="芫荽" panose="02020500000000000000" charset="-120"/>
            </a:endParaRPr>
          </a:p>
        </p:txBody>
      </p:sp>
      <p:sp>
        <p:nvSpPr>
          <p:cNvPr id="5" name="TextBox 5"/>
          <p:cNvSpPr txBox="1"/>
          <p:nvPr/>
        </p:nvSpPr>
        <p:spPr>
          <a:xfrm>
            <a:off x="1577243" y="8925242"/>
            <a:ext cx="15133513" cy="565861"/>
          </a:xfrm>
          <a:prstGeom prst="rect">
            <a:avLst/>
          </a:prstGeom>
        </p:spPr>
        <p:txBody>
          <a:bodyPr lIns="0" tIns="0" rIns="0" bIns="0" rtlCol="0" anchor="t">
            <a:spAutoFit/>
          </a:bodyPr>
          <a:lstStyle/>
          <a:p>
            <a:pPr algn="ctr">
              <a:lnSpc>
                <a:spcPts val="4759"/>
              </a:lnSpc>
            </a:pPr>
            <a:r>
              <a:rPr lang="en-US" sz="3399" dirty="0">
                <a:solidFill>
                  <a:srgbClr val="693A20"/>
                </a:solidFill>
                <a:latin typeface="Times New Roman" panose="02020603050405020304" pitchFamily="18" charset="0"/>
                <a:ea typeface="標楷體" panose="03000509000000000000" pitchFamily="65" charset="-120"/>
                <a:cs typeface="Times New Roman" panose="02020603050405020304" pitchFamily="18" charset="0"/>
              </a:rPr>
              <a:t>411770349 黃妤涵 411770521 </a:t>
            </a:r>
            <a:r>
              <a:rPr lang="en-US" sz="3399" dirty="0" err="1">
                <a:solidFill>
                  <a:srgbClr val="693A20"/>
                </a:solidFill>
                <a:latin typeface="Times New Roman" panose="02020603050405020304" pitchFamily="18" charset="0"/>
                <a:ea typeface="標楷體" panose="03000509000000000000" pitchFamily="65" charset="-120"/>
                <a:cs typeface="Times New Roman" panose="02020603050405020304" pitchFamily="18" charset="0"/>
              </a:rPr>
              <a:t>繆語</a:t>
            </a:r>
            <a:r>
              <a:rPr lang="en-US" sz="3399" dirty="0">
                <a:solidFill>
                  <a:srgbClr val="693A20"/>
                </a:solidFill>
                <a:latin typeface="Times New Roman" panose="02020603050405020304" pitchFamily="18" charset="0"/>
                <a:ea typeface="標楷體" panose="03000509000000000000" pitchFamily="65" charset="-120"/>
                <a:cs typeface="Times New Roman" panose="02020603050405020304" pitchFamily="18" charset="0"/>
              </a:rPr>
              <a:t> 411770547 </a:t>
            </a:r>
            <a:r>
              <a:rPr lang="en-US" sz="3399" dirty="0" err="1">
                <a:solidFill>
                  <a:srgbClr val="693A20"/>
                </a:solidFill>
                <a:latin typeface="Times New Roman" panose="02020603050405020304" pitchFamily="18" charset="0"/>
                <a:ea typeface="標楷體" panose="03000509000000000000" pitchFamily="65" charset="-120"/>
                <a:cs typeface="Times New Roman" panose="02020603050405020304" pitchFamily="18" charset="0"/>
              </a:rPr>
              <a:t>李佩臻</a:t>
            </a:r>
            <a:r>
              <a:rPr lang="en-US" sz="3399" dirty="0">
                <a:solidFill>
                  <a:srgbClr val="693A20"/>
                </a:solidFill>
                <a:latin typeface="Times New Roman" panose="02020603050405020304" pitchFamily="18" charset="0"/>
                <a:ea typeface="標楷體" panose="03000509000000000000" pitchFamily="65" charset="-120"/>
                <a:cs typeface="Times New Roman" panose="02020603050405020304" pitchFamily="18" charset="0"/>
              </a:rPr>
              <a:t> 411770927 </a:t>
            </a:r>
            <a:r>
              <a:rPr lang="en-US" sz="3399" dirty="0" err="1">
                <a:solidFill>
                  <a:srgbClr val="693A20"/>
                </a:solidFill>
                <a:latin typeface="Times New Roman" panose="02020603050405020304" pitchFamily="18" charset="0"/>
                <a:ea typeface="標楷體" panose="03000509000000000000" pitchFamily="65" charset="-120"/>
                <a:cs typeface="Times New Roman" panose="02020603050405020304" pitchFamily="18" charset="0"/>
              </a:rPr>
              <a:t>褚亞誠</a:t>
            </a:r>
            <a:endParaRPr lang="en-US" sz="3399" dirty="0">
              <a:solidFill>
                <a:srgbClr val="693A20"/>
              </a:solidFill>
              <a:latin typeface="Times New Roman" panose="02020603050405020304" pitchFamily="18" charset="0"/>
              <a:ea typeface="標楷體" panose="03000509000000000000" pitchFamily="65" charset="-12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TextBox 2"/>
          <p:cNvSpPr txBox="1"/>
          <p:nvPr/>
        </p:nvSpPr>
        <p:spPr>
          <a:xfrm>
            <a:off x="6894801" y="352243"/>
            <a:ext cx="4498398" cy="1014097"/>
          </a:xfrm>
          <a:prstGeom prst="rect">
            <a:avLst/>
          </a:prstGeom>
        </p:spPr>
        <p:txBody>
          <a:bodyPr lIns="0" tIns="0" rIns="0" bIns="0" rtlCol="0" anchor="t">
            <a:spAutoFit/>
          </a:bodyPr>
          <a:lstStyle/>
          <a:p>
            <a:pPr>
              <a:lnSpc>
                <a:spcPts val="7840"/>
              </a:lnSpc>
              <a:spcBef>
                <a:spcPct val="0"/>
              </a:spcBef>
            </a:pPr>
            <a:r>
              <a:rPr lang="en-US" sz="7000" dirty="0" err="1">
                <a:solidFill>
                  <a:srgbClr val="9B4819"/>
                </a:solidFill>
                <a:latin typeface="標楷體" panose="03000509000000000000" pitchFamily="65" charset="-120"/>
                <a:ea typeface="標楷體" panose="03000509000000000000" pitchFamily="65" charset="-120"/>
              </a:rPr>
              <a:t>動機與目的</a:t>
            </a:r>
            <a:endParaRPr lang="en-US" sz="7000" dirty="0">
              <a:solidFill>
                <a:srgbClr val="9B4819"/>
              </a:solidFill>
              <a:latin typeface="標楷體" panose="03000509000000000000" pitchFamily="65" charset="-120"/>
              <a:ea typeface="標楷體" panose="03000509000000000000" pitchFamily="65" charset="-120"/>
            </a:endParaRPr>
          </a:p>
        </p:txBody>
      </p:sp>
      <p:sp>
        <p:nvSpPr>
          <p:cNvPr id="3" name="AutoShape 3"/>
          <p:cNvSpPr/>
          <p:nvPr/>
        </p:nvSpPr>
        <p:spPr>
          <a:xfrm>
            <a:off x="2851068" y="1661614"/>
            <a:ext cx="12585864" cy="0"/>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4" name="TextBox 4"/>
          <p:cNvSpPr txBox="1"/>
          <p:nvPr/>
        </p:nvSpPr>
        <p:spPr>
          <a:xfrm>
            <a:off x="1816410" y="3009900"/>
            <a:ext cx="14490390" cy="5264775"/>
          </a:xfrm>
          <a:prstGeom prst="rect">
            <a:avLst/>
          </a:prstGeom>
        </p:spPr>
        <p:txBody>
          <a:bodyPr wrap="square" lIns="0" tIns="0" rIns="0" bIns="0" rtlCol="0" anchor="t">
            <a:spAutoFit/>
          </a:bodyPr>
          <a:lstStyle/>
          <a:p>
            <a:pPr>
              <a:lnSpc>
                <a:spcPts val="5599"/>
              </a:lnSpc>
            </a:pPr>
            <a:r>
              <a:rPr lang="en-US" sz="3999" dirty="0">
                <a:solidFill>
                  <a:srgbClr val="9B4819"/>
                </a:solidFill>
                <a:latin typeface="標楷體" panose="03000509000000000000" pitchFamily="65" charset="-120"/>
                <a:ea typeface="標楷體" panose="03000509000000000000" pitchFamily="65" charset="-120"/>
              </a:rPr>
              <a:t>一、 </a:t>
            </a:r>
            <a:r>
              <a:rPr lang="en-US" sz="3999" dirty="0" err="1">
                <a:solidFill>
                  <a:srgbClr val="9B4819"/>
                </a:solidFill>
                <a:latin typeface="標楷體" panose="03000509000000000000" pitchFamily="65" charset="-120"/>
                <a:ea typeface="標楷體" panose="03000509000000000000" pitchFamily="65" charset="-120"/>
              </a:rPr>
              <a:t>動機</a:t>
            </a:r>
            <a:endParaRPr lang="en-US" sz="3999" dirty="0">
              <a:solidFill>
                <a:srgbClr val="9B4819"/>
              </a:solidFill>
              <a:latin typeface="標楷體" panose="03000509000000000000" pitchFamily="65" charset="-120"/>
              <a:ea typeface="標楷體" panose="03000509000000000000" pitchFamily="65" charset="-120"/>
            </a:endParaRPr>
          </a:p>
          <a:p>
            <a:pPr>
              <a:lnSpc>
                <a:spcPts val="5145"/>
              </a:lnSpc>
            </a:pPr>
            <a:r>
              <a:rPr lang="en-US" sz="3675" dirty="0">
                <a:solidFill>
                  <a:srgbClr val="9B4819"/>
                </a:solidFill>
                <a:latin typeface="標楷體" panose="03000509000000000000" pitchFamily="65" charset="-120"/>
                <a:ea typeface="標楷體" panose="03000509000000000000" pitchFamily="65" charset="-120"/>
              </a:rPr>
              <a:t>	</a:t>
            </a:r>
            <a:r>
              <a:rPr lang="en-US" sz="3675" dirty="0" err="1">
                <a:solidFill>
                  <a:srgbClr val="9B4819"/>
                </a:solidFill>
                <a:latin typeface="標楷體" panose="03000509000000000000" pitchFamily="65" charset="-120"/>
                <a:ea typeface="標楷體" panose="03000509000000000000" pitchFamily="65" charset="-120"/>
              </a:rPr>
              <a:t>發現許多人會看著冰箱裡滿滿當當的食材卻不知道從何下手</a:t>
            </a:r>
            <a:r>
              <a:rPr lang="en-US" sz="3675" dirty="0">
                <a:solidFill>
                  <a:srgbClr val="9B4819"/>
                </a:solidFill>
                <a:latin typeface="標楷體" panose="03000509000000000000" pitchFamily="65" charset="-120"/>
                <a:ea typeface="標楷體" panose="03000509000000000000" pitchFamily="65" charset="-120"/>
              </a:rPr>
              <a:t>，</a:t>
            </a:r>
          </a:p>
          <a:p>
            <a:pPr>
              <a:lnSpc>
                <a:spcPts val="5145"/>
              </a:lnSpc>
            </a:pPr>
            <a:r>
              <a:rPr lang="en-US" sz="3675" dirty="0">
                <a:solidFill>
                  <a:srgbClr val="9B4819"/>
                </a:solidFill>
                <a:latin typeface="標楷體" panose="03000509000000000000" pitchFamily="65" charset="-120"/>
                <a:ea typeface="標楷體" panose="03000509000000000000" pitchFamily="65" charset="-120"/>
              </a:rPr>
              <a:t>	</a:t>
            </a:r>
            <a:r>
              <a:rPr lang="en-US" sz="3675" dirty="0" err="1">
                <a:solidFill>
                  <a:srgbClr val="9B4819"/>
                </a:solidFill>
                <a:latin typeface="標楷體" panose="03000509000000000000" pitchFamily="65" charset="-120"/>
                <a:ea typeface="標楷體" panose="03000509000000000000" pitchFamily="65" charset="-120"/>
              </a:rPr>
              <a:t>希望可以開發一系統來解決日常生活中常見的難題</a:t>
            </a:r>
            <a:r>
              <a:rPr lang="en-US" sz="3675" dirty="0">
                <a:solidFill>
                  <a:srgbClr val="9B4819"/>
                </a:solidFill>
                <a:latin typeface="標楷體" panose="03000509000000000000" pitchFamily="65" charset="-120"/>
                <a:ea typeface="標楷體" panose="03000509000000000000" pitchFamily="65" charset="-120"/>
              </a:rPr>
              <a:t>。</a:t>
            </a:r>
          </a:p>
          <a:p>
            <a:pPr>
              <a:lnSpc>
                <a:spcPts val="5145"/>
              </a:lnSpc>
            </a:pPr>
            <a:endParaRPr lang="en-US" sz="3675" dirty="0">
              <a:solidFill>
                <a:srgbClr val="9B4819"/>
              </a:solidFill>
              <a:latin typeface="標楷體" panose="03000509000000000000" pitchFamily="65" charset="-120"/>
              <a:ea typeface="標楷體" panose="03000509000000000000" pitchFamily="65" charset="-120"/>
            </a:endParaRPr>
          </a:p>
          <a:p>
            <a:pPr>
              <a:lnSpc>
                <a:spcPts val="5599"/>
              </a:lnSpc>
            </a:pPr>
            <a:r>
              <a:rPr lang="en-US" sz="3999" dirty="0">
                <a:solidFill>
                  <a:srgbClr val="9B4819"/>
                </a:solidFill>
                <a:latin typeface="標楷體" panose="03000509000000000000" pitchFamily="65" charset="-120"/>
                <a:ea typeface="標楷體" panose="03000509000000000000" pitchFamily="65" charset="-120"/>
              </a:rPr>
              <a:t>二、 </a:t>
            </a:r>
            <a:r>
              <a:rPr lang="en-US" sz="3999" dirty="0" err="1">
                <a:solidFill>
                  <a:srgbClr val="9B4819"/>
                </a:solidFill>
                <a:latin typeface="標楷體" panose="03000509000000000000" pitchFamily="65" charset="-120"/>
                <a:ea typeface="標楷體" panose="03000509000000000000" pitchFamily="65" charset="-120"/>
              </a:rPr>
              <a:t>目的</a:t>
            </a:r>
            <a:endParaRPr lang="en-US" sz="3999" dirty="0">
              <a:solidFill>
                <a:srgbClr val="9B4819"/>
              </a:solidFill>
              <a:latin typeface="標楷體" panose="03000509000000000000" pitchFamily="65" charset="-120"/>
              <a:ea typeface="標楷體" panose="03000509000000000000" pitchFamily="65" charset="-120"/>
            </a:endParaRPr>
          </a:p>
          <a:p>
            <a:pPr>
              <a:lnSpc>
                <a:spcPts val="5145"/>
              </a:lnSpc>
            </a:pPr>
            <a:r>
              <a:rPr lang="en-US" sz="3675" dirty="0">
                <a:solidFill>
                  <a:srgbClr val="9B4819"/>
                </a:solidFill>
                <a:latin typeface="標楷體" panose="03000509000000000000" pitchFamily="65" charset="-120"/>
                <a:ea typeface="標楷體" panose="03000509000000000000" pitchFamily="65" charset="-120"/>
              </a:rPr>
              <a:t>    </a:t>
            </a:r>
            <a:r>
              <a:rPr lang="en-US" sz="3675" dirty="0" err="1">
                <a:solidFill>
                  <a:srgbClr val="9B4819"/>
                </a:solidFill>
                <a:latin typeface="標楷體" panose="03000509000000000000" pitchFamily="65" charset="-120"/>
                <a:ea typeface="標楷體" panose="03000509000000000000" pitchFamily="65" charset="-120"/>
              </a:rPr>
              <a:t>透過我們所建立之查詢系統及資料庫解決使用者運用食材上的困難</a:t>
            </a:r>
            <a:r>
              <a:rPr lang="en-US" sz="3675" dirty="0">
                <a:solidFill>
                  <a:srgbClr val="9B4819"/>
                </a:solidFill>
                <a:latin typeface="標楷體" panose="03000509000000000000" pitchFamily="65" charset="-120"/>
                <a:ea typeface="標楷體" panose="03000509000000000000" pitchFamily="65" charset="-120"/>
              </a:rPr>
              <a:t>	，</a:t>
            </a:r>
            <a:r>
              <a:rPr lang="en-US" sz="3675" dirty="0" err="1">
                <a:solidFill>
                  <a:srgbClr val="9B4819"/>
                </a:solidFill>
                <a:latin typeface="標楷體" panose="03000509000000000000" pitchFamily="65" charset="-120"/>
                <a:ea typeface="標楷體" panose="03000509000000000000" pitchFamily="65" charset="-120"/>
              </a:rPr>
              <a:t>將冰箱中的食材組合成一道完美的佳餚，並給予使用者食譜教予</a:t>
            </a:r>
            <a:r>
              <a:rPr lang="en-US" sz="3675" dirty="0">
                <a:solidFill>
                  <a:srgbClr val="9B4819"/>
                </a:solidFill>
                <a:latin typeface="標楷體" panose="03000509000000000000" pitchFamily="65" charset="-120"/>
                <a:ea typeface="標楷體" panose="03000509000000000000" pitchFamily="65" charset="-120"/>
              </a:rPr>
              <a:t>	</a:t>
            </a:r>
            <a:r>
              <a:rPr lang="en-US" sz="3675" dirty="0" err="1">
                <a:solidFill>
                  <a:srgbClr val="9B4819"/>
                </a:solidFill>
                <a:latin typeface="標楷體" panose="03000509000000000000" pitchFamily="65" charset="-120"/>
                <a:ea typeface="標楷體" panose="03000509000000000000" pitchFamily="65" charset="-120"/>
              </a:rPr>
              <a:t>製作過程</a:t>
            </a:r>
            <a:r>
              <a:rPr lang="en-US" sz="3675" dirty="0">
                <a:solidFill>
                  <a:srgbClr val="9B4819"/>
                </a:solidFill>
                <a:latin typeface="標楷體" panose="03000509000000000000" pitchFamily="65" charset="-120"/>
                <a:ea typeface="標楷體" panose="03000509000000000000" pitchFamily="65" charset="-12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grpSp>
        <p:nvGrpSpPr>
          <p:cNvPr id="2" name="Group 2"/>
          <p:cNvGrpSpPr/>
          <p:nvPr/>
        </p:nvGrpSpPr>
        <p:grpSpPr>
          <a:xfrm>
            <a:off x="13074662" y="0"/>
            <a:ext cx="8369277" cy="10287000"/>
            <a:chOff x="0" y="0"/>
            <a:chExt cx="1968573" cy="2419649"/>
          </a:xfrm>
        </p:grpSpPr>
        <p:sp>
          <p:nvSpPr>
            <p:cNvPr id="3" name="Freeform 3"/>
            <p:cNvSpPr/>
            <p:nvPr/>
          </p:nvSpPr>
          <p:spPr>
            <a:xfrm>
              <a:off x="0" y="0"/>
              <a:ext cx="1968573" cy="2419649"/>
            </a:xfrm>
            <a:custGeom>
              <a:avLst/>
              <a:gdLst/>
              <a:ahLst/>
              <a:cxnLst/>
              <a:rect l="l" t="t" r="r" b="b"/>
              <a:pathLst>
                <a:path w="1968573" h="2419649">
                  <a:moveTo>
                    <a:pt x="0" y="0"/>
                  </a:moveTo>
                  <a:lnTo>
                    <a:pt x="1968573" y="0"/>
                  </a:lnTo>
                  <a:lnTo>
                    <a:pt x="1968573" y="2419649"/>
                  </a:lnTo>
                  <a:lnTo>
                    <a:pt x="0" y="2419649"/>
                  </a:lnTo>
                  <a:close/>
                </a:path>
              </a:pathLst>
            </a:custGeom>
            <a:solidFill>
              <a:srgbClr val="9B4819"/>
            </a:solidFill>
          </p:spPr>
          <p:txBody>
            <a:bodyPr/>
            <a:lstStyle/>
            <a:p>
              <a:endParaRPr lang="zh-TW" altLang="en-US" dirty="0">
                <a:latin typeface="標楷體" panose="03000509000000000000" pitchFamily="65" charset="-120"/>
              </a:endParaRPr>
            </a:p>
          </p:txBody>
        </p:sp>
        <p:sp>
          <p:nvSpPr>
            <p:cNvPr id="4" name="TextBox 4"/>
            <p:cNvSpPr txBox="1"/>
            <p:nvPr/>
          </p:nvSpPr>
          <p:spPr>
            <a:xfrm>
              <a:off x="0" y="-57150"/>
              <a:ext cx="1968573" cy="2476799"/>
            </a:xfrm>
            <a:prstGeom prst="rect">
              <a:avLst/>
            </a:prstGeom>
          </p:spPr>
          <p:txBody>
            <a:bodyPr lIns="50800" tIns="50800" rIns="50800" bIns="50800" rtlCol="0" anchor="ctr"/>
            <a:lstStyle/>
            <a:p>
              <a:pPr algn="ctr">
                <a:lnSpc>
                  <a:spcPts val="2800"/>
                </a:lnSpc>
              </a:pPr>
              <a:endParaRPr dirty="0">
                <a:latin typeface="標楷體" panose="03000509000000000000" pitchFamily="65" charset="-120"/>
              </a:endParaRPr>
            </a:p>
          </p:txBody>
        </p:sp>
      </p:grpSp>
      <p:sp>
        <p:nvSpPr>
          <p:cNvPr id="5" name="AutoShape 5"/>
          <p:cNvSpPr/>
          <p:nvPr/>
        </p:nvSpPr>
        <p:spPr>
          <a:xfrm flipV="1">
            <a:off x="2336576" y="1922578"/>
            <a:ext cx="13614849" cy="0"/>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6" name="TextBox 6"/>
          <p:cNvSpPr txBox="1"/>
          <p:nvPr/>
        </p:nvSpPr>
        <p:spPr>
          <a:xfrm>
            <a:off x="2336576" y="365125"/>
            <a:ext cx="8712424" cy="1193800"/>
          </a:xfrm>
          <a:prstGeom prst="rect">
            <a:avLst/>
          </a:prstGeom>
        </p:spPr>
        <p:txBody>
          <a:bodyPr wrap="square" lIns="0" tIns="0" rIns="0" bIns="0" rtlCol="0" anchor="t">
            <a:spAutoFit/>
          </a:bodyPr>
          <a:lstStyle/>
          <a:p>
            <a:pPr algn="ctr">
              <a:lnSpc>
                <a:spcPts val="9799"/>
              </a:lnSpc>
            </a:pPr>
            <a:r>
              <a:rPr lang="en-US" sz="6999" dirty="0" err="1">
                <a:solidFill>
                  <a:srgbClr val="9B4819"/>
                </a:solidFill>
                <a:latin typeface="標楷體" panose="03000509000000000000" pitchFamily="65" charset="-120"/>
                <a:ea typeface="標楷體" panose="03000509000000000000" pitchFamily="65" charset="-120"/>
              </a:rPr>
              <a:t>系統需求與資料收集</a:t>
            </a:r>
            <a:endParaRPr lang="en-US" sz="6999" dirty="0">
              <a:solidFill>
                <a:srgbClr val="9B4819"/>
              </a:solidFill>
              <a:latin typeface="標楷體" panose="03000509000000000000" pitchFamily="65" charset="-120"/>
              <a:ea typeface="標楷體" panose="03000509000000000000" pitchFamily="65" charset="-120"/>
            </a:endParaRPr>
          </a:p>
        </p:txBody>
      </p:sp>
      <p:sp>
        <p:nvSpPr>
          <p:cNvPr id="7" name="TextBox 7"/>
          <p:cNvSpPr txBox="1"/>
          <p:nvPr/>
        </p:nvSpPr>
        <p:spPr>
          <a:xfrm>
            <a:off x="2336576" y="2809105"/>
            <a:ext cx="9618861" cy="6315640"/>
          </a:xfrm>
          <a:prstGeom prst="rect">
            <a:avLst/>
          </a:prstGeom>
        </p:spPr>
        <p:txBody>
          <a:bodyPr lIns="0" tIns="0" rIns="0" bIns="0" rtlCol="0" anchor="t">
            <a:spAutoFit/>
          </a:bodyPr>
          <a:lstStyle/>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a:t>
            </a:r>
            <a:r>
              <a:rPr lang="en-US" sz="4200" dirty="0" err="1">
                <a:solidFill>
                  <a:srgbClr val="9B4819"/>
                </a:solidFill>
                <a:latin typeface="標楷體" panose="03000509000000000000" pitchFamily="65" charset="-120"/>
                <a:ea typeface="標楷體" panose="03000509000000000000" pitchFamily="65" charset="-120"/>
              </a:rPr>
              <a:t>使用者可註冊登錄系統，帳號不可重複</a:t>
            </a:r>
            <a:endParaRPr lang="en-US" sz="4200" dirty="0">
              <a:solidFill>
                <a:srgbClr val="9B4819"/>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a:t>
            </a:r>
            <a:r>
              <a:rPr lang="en-US" sz="4200" dirty="0" err="1">
                <a:solidFill>
                  <a:srgbClr val="9B4819"/>
                </a:solidFill>
                <a:latin typeface="標楷體" panose="03000509000000000000" pitchFamily="65" charset="-120"/>
                <a:ea typeface="標楷體" panose="03000509000000000000" pitchFamily="65" charset="-120"/>
              </a:rPr>
              <a:t>使用者登錄後可記錄自己的飲食偏好</a:t>
            </a:r>
            <a:endParaRPr lang="en-US" sz="4200" dirty="0">
              <a:solidFill>
                <a:srgbClr val="9B4819"/>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a:t>
            </a:r>
            <a:r>
              <a:rPr lang="en-US" sz="4200" dirty="0" err="1">
                <a:solidFill>
                  <a:srgbClr val="9B4819"/>
                </a:solidFill>
                <a:latin typeface="標楷體" panose="03000509000000000000" pitchFamily="65" charset="-120"/>
                <a:ea typeface="標楷體" panose="03000509000000000000" pitchFamily="65" charset="-120"/>
              </a:rPr>
              <a:t>使用者可設定自己的名稱，</a:t>
            </a:r>
            <a:r>
              <a:rPr lang="en-US" sz="4200" u="sng" dirty="0" err="1">
                <a:solidFill>
                  <a:srgbClr val="DD0000"/>
                </a:solidFill>
                <a:latin typeface="標楷體" panose="03000509000000000000" pitchFamily="65" charset="-120"/>
                <a:ea typeface="標楷體" panose="03000509000000000000" pitchFamily="65" charset="-120"/>
              </a:rPr>
              <a:t>日後可更改</a:t>
            </a:r>
            <a:endParaRPr lang="en-US" sz="4200" u="sng" dirty="0">
              <a:solidFill>
                <a:srgbClr val="DD0000"/>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a:t>
            </a:r>
            <a:r>
              <a:rPr lang="en-US" sz="4200" dirty="0" err="1">
                <a:solidFill>
                  <a:srgbClr val="9B4819"/>
                </a:solidFill>
                <a:latin typeface="標楷體" panose="03000509000000000000" pitchFamily="65" charset="-120"/>
                <a:ea typeface="標楷體" panose="03000509000000000000" pitchFamily="65" charset="-120"/>
              </a:rPr>
              <a:t>每份食譜有對應之</a:t>
            </a:r>
            <a:r>
              <a:rPr lang="en-US" sz="4200" dirty="0">
                <a:solidFill>
                  <a:srgbClr val="9B4819"/>
                </a:solidFill>
                <a:latin typeface="標楷體" panose="03000509000000000000" pitchFamily="65" charset="-120"/>
                <a:ea typeface="標楷體" panose="03000509000000000000" pitchFamily="65" charset="-120"/>
              </a:rPr>
              <a:t> </a:t>
            </a:r>
            <a:r>
              <a:rPr lang="en-US" sz="4200" dirty="0">
                <a:solidFill>
                  <a:srgbClr val="9B4819"/>
                </a:solidFill>
                <a:latin typeface="Times New Roman" panose="02020603050405020304" pitchFamily="18" charset="0"/>
                <a:ea typeface="標楷體" panose="03000509000000000000" pitchFamily="65" charset="-120"/>
                <a:cs typeface="Times New Roman" panose="02020603050405020304" pitchFamily="18" charset="0"/>
              </a:rPr>
              <a:t>id</a:t>
            </a: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a:t>
            </a:r>
            <a:r>
              <a:rPr lang="en-US" sz="4200" u="sng" dirty="0" err="1">
                <a:solidFill>
                  <a:srgbClr val="DD0000"/>
                </a:solidFill>
                <a:latin typeface="標楷體" panose="03000509000000000000" pitchFamily="65" charset="-120"/>
                <a:ea typeface="標楷體" panose="03000509000000000000" pitchFamily="65" charset="-120"/>
              </a:rPr>
              <a:t>食譜名稱可更改</a:t>
            </a:r>
            <a:endParaRPr lang="en-US" sz="4200" u="sng" dirty="0">
              <a:solidFill>
                <a:srgbClr val="DD0000"/>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a:t>
            </a:r>
            <a:r>
              <a:rPr lang="en-US" sz="4200" dirty="0" err="1">
                <a:solidFill>
                  <a:srgbClr val="9B4819"/>
                </a:solidFill>
                <a:latin typeface="標楷體" panose="03000509000000000000" pitchFamily="65" charset="-120"/>
                <a:ea typeface="標楷體" panose="03000509000000000000" pitchFamily="65" charset="-120"/>
              </a:rPr>
              <a:t>食譜中包括其製作方式</a:t>
            </a:r>
            <a:endParaRPr lang="en-US" sz="4200" dirty="0">
              <a:solidFill>
                <a:srgbClr val="9B4819"/>
              </a:solidFill>
              <a:latin typeface="標楷體" panose="03000509000000000000" pitchFamily="65" charset="-120"/>
              <a:ea typeface="標楷體" panose="03000509000000000000" pitchFamily="65" charset="-12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grpSp>
        <p:nvGrpSpPr>
          <p:cNvPr id="2" name="Group 2"/>
          <p:cNvGrpSpPr/>
          <p:nvPr/>
        </p:nvGrpSpPr>
        <p:grpSpPr>
          <a:xfrm>
            <a:off x="13074662" y="0"/>
            <a:ext cx="8369277" cy="10287000"/>
            <a:chOff x="0" y="0"/>
            <a:chExt cx="1968573" cy="2419649"/>
          </a:xfrm>
        </p:grpSpPr>
        <p:sp>
          <p:nvSpPr>
            <p:cNvPr id="3" name="Freeform 3"/>
            <p:cNvSpPr/>
            <p:nvPr/>
          </p:nvSpPr>
          <p:spPr>
            <a:xfrm>
              <a:off x="0" y="0"/>
              <a:ext cx="1968573" cy="2419649"/>
            </a:xfrm>
            <a:custGeom>
              <a:avLst/>
              <a:gdLst/>
              <a:ahLst/>
              <a:cxnLst/>
              <a:rect l="l" t="t" r="r" b="b"/>
              <a:pathLst>
                <a:path w="1968573" h="2419649">
                  <a:moveTo>
                    <a:pt x="0" y="0"/>
                  </a:moveTo>
                  <a:lnTo>
                    <a:pt x="1968573" y="0"/>
                  </a:lnTo>
                  <a:lnTo>
                    <a:pt x="1968573" y="2419649"/>
                  </a:lnTo>
                  <a:lnTo>
                    <a:pt x="0" y="2419649"/>
                  </a:lnTo>
                  <a:close/>
                </a:path>
              </a:pathLst>
            </a:custGeom>
            <a:solidFill>
              <a:srgbClr val="9B4819"/>
            </a:solidFill>
          </p:spPr>
          <p:txBody>
            <a:bodyPr/>
            <a:lstStyle/>
            <a:p>
              <a:endParaRPr lang="zh-TW" altLang="en-US" dirty="0">
                <a:latin typeface="標楷體" panose="03000509000000000000" pitchFamily="65" charset="-120"/>
              </a:endParaRPr>
            </a:p>
          </p:txBody>
        </p:sp>
        <p:sp>
          <p:nvSpPr>
            <p:cNvPr id="4" name="TextBox 4"/>
            <p:cNvSpPr txBox="1"/>
            <p:nvPr/>
          </p:nvSpPr>
          <p:spPr>
            <a:xfrm>
              <a:off x="0" y="-57150"/>
              <a:ext cx="1968573" cy="2476799"/>
            </a:xfrm>
            <a:prstGeom prst="rect">
              <a:avLst/>
            </a:prstGeom>
          </p:spPr>
          <p:txBody>
            <a:bodyPr lIns="50800" tIns="50800" rIns="50800" bIns="50800" rtlCol="0" anchor="ctr"/>
            <a:lstStyle/>
            <a:p>
              <a:pPr algn="ctr">
                <a:lnSpc>
                  <a:spcPts val="2800"/>
                </a:lnSpc>
              </a:pPr>
              <a:endParaRPr dirty="0">
                <a:latin typeface="標楷體" panose="03000509000000000000" pitchFamily="65" charset="-120"/>
              </a:endParaRPr>
            </a:p>
          </p:txBody>
        </p:sp>
      </p:grpSp>
      <p:sp>
        <p:nvSpPr>
          <p:cNvPr id="5" name="AutoShape 5"/>
          <p:cNvSpPr/>
          <p:nvPr/>
        </p:nvSpPr>
        <p:spPr>
          <a:xfrm flipV="1">
            <a:off x="2336576" y="1922578"/>
            <a:ext cx="13614849" cy="0"/>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6" name="TextBox 6"/>
          <p:cNvSpPr txBox="1"/>
          <p:nvPr/>
        </p:nvSpPr>
        <p:spPr>
          <a:xfrm>
            <a:off x="2336576" y="365125"/>
            <a:ext cx="8636224" cy="1193800"/>
          </a:xfrm>
          <a:prstGeom prst="rect">
            <a:avLst/>
          </a:prstGeom>
        </p:spPr>
        <p:txBody>
          <a:bodyPr wrap="square" lIns="0" tIns="0" rIns="0" bIns="0" rtlCol="0" anchor="t">
            <a:spAutoFit/>
          </a:bodyPr>
          <a:lstStyle/>
          <a:p>
            <a:pPr algn="ctr">
              <a:lnSpc>
                <a:spcPts val="9799"/>
              </a:lnSpc>
            </a:pPr>
            <a:r>
              <a:rPr lang="en-US" sz="6999" dirty="0" err="1">
                <a:solidFill>
                  <a:srgbClr val="9B4819"/>
                </a:solidFill>
                <a:latin typeface="標楷體" panose="03000509000000000000" pitchFamily="65" charset="-120"/>
                <a:ea typeface="標楷體" panose="03000509000000000000" pitchFamily="65" charset="-120"/>
              </a:rPr>
              <a:t>系統需求與資料收集</a:t>
            </a:r>
            <a:endParaRPr lang="en-US" sz="6999" dirty="0">
              <a:solidFill>
                <a:srgbClr val="9B4819"/>
              </a:solidFill>
              <a:latin typeface="標楷體" panose="03000509000000000000" pitchFamily="65" charset="-120"/>
              <a:ea typeface="標楷體" panose="03000509000000000000" pitchFamily="65" charset="-120"/>
            </a:endParaRPr>
          </a:p>
        </p:txBody>
      </p:sp>
      <p:sp>
        <p:nvSpPr>
          <p:cNvPr id="7" name="TextBox 7"/>
          <p:cNvSpPr txBox="1"/>
          <p:nvPr/>
        </p:nvSpPr>
        <p:spPr>
          <a:xfrm>
            <a:off x="2336576" y="2763741"/>
            <a:ext cx="10738086" cy="6271589"/>
          </a:xfrm>
          <a:prstGeom prst="rect">
            <a:avLst/>
          </a:prstGeom>
        </p:spPr>
        <p:txBody>
          <a:bodyPr wrap="square" lIns="0" tIns="0" rIns="0" bIns="0" rtlCol="0" anchor="t">
            <a:spAutoFit/>
          </a:bodyPr>
          <a:lstStyle/>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 </a:t>
            </a:r>
            <a:r>
              <a:rPr lang="en-US" sz="4200" dirty="0" err="1">
                <a:solidFill>
                  <a:srgbClr val="9B4819"/>
                </a:solidFill>
                <a:latin typeface="標楷體" panose="03000509000000000000" pitchFamily="65" charset="-120"/>
                <a:ea typeface="標楷體" panose="03000509000000000000" pitchFamily="65" charset="-120"/>
              </a:rPr>
              <a:t>食譜中包括所需食材</a:t>
            </a:r>
            <a:endParaRPr lang="en-US" sz="4200" dirty="0">
              <a:solidFill>
                <a:srgbClr val="9B4819"/>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 </a:t>
            </a:r>
            <a:r>
              <a:rPr lang="en-US" sz="4200" dirty="0" err="1">
                <a:solidFill>
                  <a:srgbClr val="9B4819"/>
                </a:solidFill>
                <a:latin typeface="標楷體" panose="03000509000000000000" pitchFamily="65" charset="-120"/>
                <a:ea typeface="標楷體" panose="03000509000000000000" pitchFamily="65" charset="-120"/>
              </a:rPr>
              <a:t>食譜具有標籤</a:t>
            </a:r>
            <a:r>
              <a:rPr lang="en-US" sz="4200" dirty="0">
                <a:solidFill>
                  <a:srgbClr val="9B4819"/>
                </a:solidFill>
                <a:latin typeface="標楷體" panose="03000509000000000000" pitchFamily="65" charset="-120"/>
                <a:ea typeface="標楷體" panose="03000509000000000000" pitchFamily="65" charset="-120"/>
              </a:rPr>
              <a:t>(</a:t>
            </a:r>
            <a:r>
              <a:rPr lang="en-US" sz="4200" dirty="0" err="1">
                <a:solidFill>
                  <a:srgbClr val="9B4819"/>
                </a:solidFill>
                <a:latin typeface="Times New Roman" panose="02020603050405020304" pitchFamily="18" charset="0"/>
                <a:ea typeface="標楷體" panose="03000509000000000000" pitchFamily="65" charset="-120"/>
                <a:cs typeface="Times New Roman" panose="02020603050405020304" pitchFamily="18" charset="0"/>
              </a:rPr>
              <a:t>Ex</a:t>
            </a:r>
            <a:r>
              <a:rPr lang="en-US" sz="4200" dirty="0" err="1">
                <a:solidFill>
                  <a:srgbClr val="9B4819"/>
                </a:solidFill>
                <a:latin typeface="標楷體" panose="03000509000000000000" pitchFamily="65" charset="-120"/>
                <a:ea typeface="標楷體" panose="03000509000000000000" pitchFamily="65" charset="-120"/>
              </a:rPr>
              <a:t>.葷素</a:t>
            </a:r>
            <a:r>
              <a:rPr lang="en-US" sz="4200" dirty="0">
                <a:solidFill>
                  <a:srgbClr val="9B4819"/>
                </a:solidFill>
                <a:latin typeface="標楷體" panose="03000509000000000000" pitchFamily="65" charset="-120"/>
                <a:ea typeface="標楷體" panose="03000509000000000000" pitchFamily="65" charset="-120"/>
              </a:rPr>
              <a:t>)</a:t>
            </a: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 </a:t>
            </a:r>
            <a:r>
              <a:rPr lang="en-US" sz="4200" dirty="0" err="1">
                <a:solidFill>
                  <a:srgbClr val="9B4819"/>
                </a:solidFill>
                <a:latin typeface="標楷體" panose="03000509000000000000" pitchFamily="65" charset="-120"/>
                <a:ea typeface="標楷體" panose="03000509000000000000" pitchFamily="65" charset="-120"/>
              </a:rPr>
              <a:t>每個食材有對應的</a:t>
            </a:r>
            <a:r>
              <a:rPr lang="en-US" sz="4200" dirty="0">
                <a:solidFill>
                  <a:srgbClr val="9B4819"/>
                </a:solidFill>
                <a:latin typeface="標楷體" panose="03000509000000000000" pitchFamily="65" charset="-120"/>
                <a:ea typeface="標楷體" panose="03000509000000000000" pitchFamily="65" charset="-120"/>
              </a:rPr>
              <a:t> </a:t>
            </a:r>
            <a:r>
              <a:rPr lang="en-US" sz="4200" dirty="0">
                <a:solidFill>
                  <a:srgbClr val="9B4819"/>
                </a:solidFill>
                <a:latin typeface="Times New Roman" panose="02020603050405020304" pitchFamily="18" charset="0"/>
                <a:ea typeface="標楷體" panose="03000509000000000000" pitchFamily="65" charset="-120"/>
                <a:cs typeface="Times New Roman" panose="02020603050405020304" pitchFamily="18" charset="0"/>
              </a:rPr>
              <a:t>id</a:t>
            </a: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a:t>
            </a:r>
            <a:r>
              <a:rPr lang="en-US" sz="4200" u="sng" dirty="0">
                <a:solidFill>
                  <a:srgbClr val="9B4819"/>
                </a:solidFill>
                <a:latin typeface="標楷體" panose="03000509000000000000" pitchFamily="65" charset="-120"/>
              </a:rPr>
              <a:t> </a:t>
            </a:r>
            <a:r>
              <a:rPr lang="en-US" sz="4200" u="sng" dirty="0" err="1">
                <a:solidFill>
                  <a:srgbClr val="DD0000"/>
                </a:solidFill>
                <a:latin typeface="標楷體" panose="03000509000000000000" pitchFamily="65" charset="-120"/>
                <a:ea typeface="標楷體" panose="03000509000000000000" pitchFamily="65" charset="-120"/>
              </a:rPr>
              <a:t>食材名稱可更改</a:t>
            </a:r>
            <a:endParaRPr lang="en-US" sz="4200" u="sng" dirty="0">
              <a:solidFill>
                <a:srgbClr val="DD0000"/>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 </a:t>
            </a:r>
            <a:r>
              <a:rPr lang="en-US" sz="4200" dirty="0" err="1">
                <a:solidFill>
                  <a:srgbClr val="9B4819"/>
                </a:solidFill>
                <a:latin typeface="標楷體" panose="03000509000000000000" pitchFamily="65" charset="-120"/>
                <a:ea typeface="標楷體" panose="03000509000000000000" pitchFamily="65" charset="-120"/>
              </a:rPr>
              <a:t>食材分類</a:t>
            </a:r>
            <a:r>
              <a:rPr lang="en-US" sz="4200" dirty="0">
                <a:solidFill>
                  <a:srgbClr val="9B4819"/>
                </a:solidFill>
                <a:latin typeface="標楷體" panose="03000509000000000000" pitchFamily="65" charset="-120"/>
                <a:ea typeface="標楷體" panose="03000509000000000000" pitchFamily="65" charset="-120"/>
              </a:rPr>
              <a:t>(</a:t>
            </a:r>
            <a:r>
              <a:rPr lang="en-US" sz="4200" dirty="0" err="1">
                <a:solidFill>
                  <a:srgbClr val="9B4819"/>
                </a:solidFill>
                <a:latin typeface="標楷體" panose="03000509000000000000" pitchFamily="65" charset="-120"/>
                <a:ea typeface="標楷體" panose="03000509000000000000" pitchFamily="65" charset="-120"/>
              </a:rPr>
              <a:t>穀物類、水果類、蔬菜類</a:t>
            </a:r>
            <a:r>
              <a:rPr lang="en-US" sz="4200" dirty="0">
                <a:solidFill>
                  <a:srgbClr val="9B4819"/>
                </a:solidFill>
                <a:latin typeface="標楷體" panose="03000509000000000000" pitchFamily="65" charset="-120"/>
                <a:ea typeface="標楷體" panose="03000509000000000000" pitchFamily="65" charset="-120"/>
              </a:rPr>
              <a:t>、</a:t>
            </a:r>
          </a:p>
          <a:p>
            <a:pPr algn="just">
              <a:lnSpc>
                <a:spcPts val="8400"/>
              </a:lnSpc>
            </a:pPr>
            <a:r>
              <a:rPr lang="en-US" sz="4200" dirty="0" err="1">
                <a:solidFill>
                  <a:srgbClr val="9B4819"/>
                </a:solidFill>
                <a:latin typeface="標楷體" panose="03000509000000000000" pitchFamily="65" charset="-120"/>
                <a:ea typeface="標楷體" panose="03000509000000000000" pitchFamily="65" charset="-120"/>
              </a:rPr>
              <a:t>豆魚蛋肉類、乳品類、油脂與堅果種</a:t>
            </a:r>
            <a:r>
              <a:rPr lang="zh-TW" altLang="en-US" sz="4200" dirty="0">
                <a:solidFill>
                  <a:srgbClr val="9B4819"/>
                </a:solidFill>
                <a:latin typeface="標楷體" panose="03000509000000000000" pitchFamily="65" charset="-120"/>
                <a:ea typeface="標楷體" panose="03000509000000000000" pitchFamily="65" charset="-120"/>
              </a:rPr>
              <a:t>子類</a:t>
            </a:r>
            <a:r>
              <a:rPr lang="en-US" sz="4200" dirty="0">
                <a:solidFill>
                  <a:srgbClr val="9B4819"/>
                </a:solidFill>
                <a:latin typeface="標楷體" panose="03000509000000000000" pitchFamily="65" charset="-120"/>
                <a:ea typeface="標楷體" panose="03000509000000000000" pitchFamily="65" charset="-12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grpSp>
        <p:nvGrpSpPr>
          <p:cNvPr id="2" name="Group 2"/>
          <p:cNvGrpSpPr/>
          <p:nvPr/>
        </p:nvGrpSpPr>
        <p:grpSpPr>
          <a:xfrm>
            <a:off x="13074662" y="0"/>
            <a:ext cx="8369277" cy="10287000"/>
            <a:chOff x="0" y="0"/>
            <a:chExt cx="1968573" cy="2419649"/>
          </a:xfrm>
        </p:grpSpPr>
        <p:sp>
          <p:nvSpPr>
            <p:cNvPr id="3" name="Freeform 3"/>
            <p:cNvSpPr/>
            <p:nvPr/>
          </p:nvSpPr>
          <p:spPr>
            <a:xfrm>
              <a:off x="0" y="0"/>
              <a:ext cx="1968573" cy="2419649"/>
            </a:xfrm>
            <a:custGeom>
              <a:avLst/>
              <a:gdLst/>
              <a:ahLst/>
              <a:cxnLst/>
              <a:rect l="l" t="t" r="r" b="b"/>
              <a:pathLst>
                <a:path w="1968573" h="2419649">
                  <a:moveTo>
                    <a:pt x="0" y="0"/>
                  </a:moveTo>
                  <a:lnTo>
                    <a:pt x="1968573" y="0"/>
                  </a:lnTo>
                  <a:lnTo>
                    <a:pt x="1968573" y="2419649"/>
                  </a:lnTo>
                  <a:lnTo>
                    <a:pt x="0" y="2419649"/>
                  </a:lnTo>
                  <a:close/>
                </a:path>
              </a:pathLst>
            </a:custGeom>
            <a:solidFill>
              <a:srgbClr val="9B4819"/>
            </a:solidFill>
          </p:spPr>
          <p:txBody>
            <a:bodyPr/>
            <a:lstStyle/>
            <a:p>
              <a:endParaRPr lang="zh-TW" altLang="en-US" dirty="0">
                <a:latin typeface="標楷體" panose="03000509000000000000" pitchFamily="65" charset="-120"/>
              </a:endParaRPr>
            </a:p>
          </p:txBody>
        </p:sp>
        <p:sp>
          <p:nvSpPr>
            <p:cNvPr id="4" name="TextBox 4"/>
            <p:cNvSpPr txBox="1"/>
            <p:nvPr/>
          </p:nvSpPr>
          <p:spPr>
            <a:xfrm>
              <a:off x="0" y="-57150"/>
              <a:ext cx="1968573" cy="2476799"/>
            </a:xfrm>
            <a:prstGeom prst="rect">
              <a:avLst/>
            </a:prstGeom>
          </p:spPr>
          <p:txBody>
            <a:bodyPr lIns="50800" tIns="50800" rIns="50800" bIns="50800" rtlCol="0" anchor="ctr"/>
            <a:lstStyle/>
            <a:p>
              <a:pPr algn="ctr">
                <a:lnSpc>
                  <a:spcPts val="2800"/>
                </a:lnSpc>
              </a:pPr>
              <a:endParaRPr dirty="0">
                <a:latin typeface="標楷體" panose="03000509000000000000" pitchFamily="65" charset="-120"/>
              </a:endParaRPr>
            </a:p>
          </p:txBody>
        </p:sp>
      </p:grpSp>
      <p:sp>
        <p:nvSpPr>
          <p:cNvPr id="5" name="AutoShape 5"/>
          <p:cNvSpPr/>
          <p:nvPr/>
        </p:nvSpPr>
        <p:spPr>
          <a:xfrm flipV="1">
            <a:off x="2336576" y="1922578"/>
            <a:ext cx="13614849" cy="0"/>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6" name="TextBox 6"/>
          <p:cNvSpPr txBox="1"/>
          <p:nvPr/>
        </p:nvSpPr>
        <p:spPr>
          <a:xfrm>
            <a:off x="2336576" y="365125"/>
            <a:ext cx="8712424" cy="1193800"/>
          </a:xfrm>
          <a:prstGeom prst="rect">
            <a:avLst/>
          </a:prstGeom>
        </p:spPr>
        <p:txBody>
          <a:bodyPr wrap="square" lIns="0" tIns="0" rIns="0" bIns="0" rtlCol="0" anchor="t">
            <a:spAutoFit/>
          </a:bodyPr>
          <a:lstStyle/>
          <a:p>
            <a:pPr algn="ctr">
              <a:lnSpc>
                <a:spcPts val="9799"/>
              </a:lnSpc>
            </a:pPr>
            <a:r>
              <a:rPr lang="en-US" sz="6999" dirty="0" err="1">
                <a:solidFill>
                  <a:srgbClr val="9B4819"/>
                </a:solidFill>
                <a:latin typeface="標楷體" panose="03000509000000000000" pitchFamily="65" charset="-120"/>
                <a:ea typeface="標楷體" panose="03000509000000000000" pitchFamily="65" charset="-120"/>
              </a:rPr>
              <a:t>系統需求與資料收集</a:t>
            </a:r>
            <a:endParaRPr lang="en-US" sz="6999" dirty="0">
              <a:solidFill>
                <a:srgbClr val="9B4819"/>
              </a:solidFill>
              <a:latin typeface="標楷體" panose="03000509000000000000" pitchFamily="65" charset="-120"/>
              <a:ea typeface="標楷體" panose="03000509000000000000" pitchFamily="65" charset="-120"/>
            </a:endParaRPr>
          </a:p>
        </p:txBody>
      </p:sp>
      <p:sp>
        <p:nvSpPr>
          <p:cNvPr id="7" name="TextBox 7"/>
          <p:cNvSpPr txBox="1"/>
          <p:nvPr/>
        </p:nvSpPr>
        <p:spPr>
          <a:xfrm>
            <a:off x="2336576" y="3335241"/>
            <a:ext cx="8925446" cy="6271589"/>
          </a:xfrm>
          <a:prstGeom prst="rect">
            <a:avLst/>
          </a:prstGeom>
        </p:spPr>
        <p:txBody>
          <a:bodyPr lIns="0" tIns="0" rIns="0" bIns="0" rtlCol="0" anchor="t">
            <a:spAutoFit/>
          </a:bodyPr>
          <a:lstStyle/>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 </a:t>
            </a:r>
            <a:r>
              <a:rPr lang="en-US" sz="4200" dirty="0" err="1">
                <a:solidFill>
                  <a:srgbClr val="9B4819"/>
                </a:solidFill>
                <a:latin typeface="標楷體" panose="03000509000000000000" pitchFamily="65" charset="-120"/>
                <a:ea typeface="標楷體" panose="03000509000000000000" pitchFamily="65" charset="-120"/>
              </a:rPr>
              <a:t>使用者可建立食譜與他人分享</a:t>
            </a:r>
            <a:endParaRPr lang="en-US" sz="4200" dirty="0">
              <a:solidFill>
                <a:srgbClr val="9B4819"/>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 </a:t>
            </a:r>
            <a:r>
              <a:rPr lang="en-US" sz="4200" dirty="0" err="1">
                <a:solidFill>
                  <a:srgbClr val="9B4819"/>
                </a:solidFill>
                <a:latin typeface="標楷體" panose="03000509000000000000" pitchFamily="65" charset="-120"/>
                <a:ea typeface="標楷體" panose="03000509000000000000" pitchFamily="65" charset="-120"/>
              </a:rPr>
              <a:t>使用者可收藏他人的食譜</a:t>
            </a:r>
            <a:endParaRPr lang="en-US" sz="4200" dirty="0">
              <a:solidFill>
                <a:srgbClr val="9B4819"/>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 </a:t>
            </a:r>
            <a:r>
              <a:rPr lang="en-US" sz="4200" u="sng" dirty="0" err="1">
                <a:solidFill>
                  <a:srgbClr val="DD0000"/>
                </a:solidFill>
                <a:latin typeface="標楷體" panose="03000509000000000000" pitchFamily="65" charset="-120"/>
                <a:ea typeface="標楷體" panose="03000509000000000000" pitchFamily="65" charset="-120"/>
              </a:rPr>
              <a:t>使用者可利用食材查詢食譜</a:t>
            </a:r>
            <a:endParaRPr lang="en-US" sz="4200" u="sng" dirty="0">
              <a:solidFill>
                <a:srgbClr val="DD0000"/>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 </a:t>
            </a:r>
            <a:r>
              <a:rPr lang="en-US" sz="4200" dirty="0" err="1">
                <a:solidFill>
                  <a:srgbClr val="9B4819"/>
                </a:solidFill>
                <a:latin typeface="標楷體" panose="03000509000000000000" pitchFamily="65" charset="-120"/>
                <a:ea typeface="標楷體" panose="03000509000000000000" pitchFamily="65" charset="-120"/>
              </a:rPr>
              <a:t>食譜包含食材</a:t>
            </a:r>
            <a:endParaRPr lang="en-US" sz="4200" dirty="0">
              <a:solidFill>
                <a:srgbClr val="9B4819"/>
              </a:solidFill>
              <a:latin typeface="標楷體" panose="03000509000000000000" pitchFamily="65" charset="-120"/>
              <a:ea typeface="標楷體" panose="03000509000000000000" pitchFamily="65" charset="-120"/>
            </a:endParaRP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a:t>
            </a:r>
            <a:r>
              <a:rPr lang="en-US" sz="4200" dirty="0" err="1">
                <a:solidFill>
                  <a:srgbClr val="9B4819"/>
                </a:solidFill>
                <a:latin typeface="標楷體" panose="03000509000000000000" pitchFamily="65" charset="-120"/>
                <a:ea typeface="標楷體" panose="03000509000000000000" pitchFamily="65" charset="-120"/>
              </a:rPr>
              <a:t>使用對象</a:t>
            </a:r>
            <a:r>
              <a:rPr lang="en-US" sz="4200" dirty="0">
                <a:solidFill>
                  <a:srgbClr val="9B4819"/>
                </a:solidFill>
                <a:latin typeface="標楷體" panose="03000509000000000000" pitchFamily="65" charset="-120"/>
                <a:ea typeface="標楷體" panose="03000509000000000000" pitchFamily="65" charset="-120"/>
              </a:rPr>
              <a:t>: </a:t>
            </a:r>
          </a:p>
          <a:p>
            <a:pPr algn="just">
              <a:lnSpc>
                <a:spcPts val="8400"/>
              </a:lnSpc>
            </a:pPr>
            <a:r>
              <a:rPr lang="en-US" sz="4200" dirty="0">
                <a:solidFill>
                  <a:srgbClr val="9B4819"/>
                </a:solidFill>
                <a:latin typeface="標楷體" panose="03000509000000000000" pitchFamily="65" charset="-120"/>
                <a:ea typeface="標楷體" panose="03000509000000000000" pitchFamily="65" charset="-120"/>
              </a:rPr>
              <a:t>	</a:t>
            </a:r>
            <a:r>
              <a:rPr lang="en-US" sz="4200" dirty="0" err="1">
                <a:solidFill>
                  <a:srgbClr val="9B4819"/>
                </a:solidFill>
                <a:latin typeface="標楷體" panose="03000509000000000000" pitchFamily="65" charset="-120"/>
                <a:ea typeface="標楷體" panose="03000509000000000000" pitchFamily="65" charset="-120"/>
              </a:rPr>
              <a:t>使用者可登錄並分享食譜</a:t>
            </a:r>
            <a:endParaRPr lang="en-US" sz="4200" dirty="0">
              <a:solidFill>
                <a:srgbClr val="9B4819"/>
              </a:solidFill>
              <a:latin typeface="標楷體" panose="03000509000000000000" pitchFamily="65" charset="-120"/>
              <a:ea typeface="標楷體" panose="03000509000000000000" pitchFamily="65" charset="-12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flipV="1">
            <a:off x="1028709" y="1581541"/>
            <a:ext cx="15158545" cy="14073"/>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Freeform 3"/>
          <p:cNvSpPr/>
          <p:nvPr/>
        </p:nvSpPr>
        <p:spPr>
          <a:xfrm>
            <a:off x="3825000" y="2443169"/>
            <a:ext cx="10637999" cy="7461653"/>
          </a:xfrm>
          <a:custGeom>
            <a:avLst/>
            <a:gdLst/>
            <a:ahLst/>
            <a:cxnLst/>
            <a:rect l="l" t="t" r="r" b="b"/>
            <a:pathLst>
              <a:path w="10637999" h="7461653">
                <a:moveTo>
                  <a:pt x="0" y="0"/>
                </a:moveTo>
                <a:lnTo>
                  <a:pt x="10638000" y="0"/>
                </a:lnTo>
                <a:lnTo>
                  <a:pt x="10638000" y="7461653"/>
                </a:lnTo>
                <a:lnTo>
                  <a:pt x="0" y="7461653"/>
                </a:lnTo>
                <a:lnTo>
                  <a:pt x="0" y="0"/>
                </a:lnTo>
                <a:close/>
              </a:path>
            </a:pathLst>
          </a:custGeom>
          <a:blipFill>
            <a:blip r:embed="rId2"/>
            <a:stretch>
              <a:fillRect/>
            </a:stretch>
          </a:blipFill>
        </p:spPr>
        <p:txBody>
          <a:bodyPr/>
          <a:lstStyle/>
          <a:p>
            <a:endParaRPr lang="zh-TW" altLang="en-US" dirty="0">
              <a:latin typeface="標楷體" panose="03000509000000000000" pitchFamily="65" charset="-120"/>
            </a:endParaRPr>
          </a:p>
        </p:txBody>
      </p:sp>
      <p:sp>
        <p:nvSpPr>
          <p:cNvPr id="4" name="TextBox 4"/>
          <p:cNvSpPr txBox="1"/>
          <p:nvPr/>
        </p:nvSpPr>
        <p:spPr>
          <a:xfrm>
            <a:off x="1028709" y="316178"/>
            <a:ext cx="6649720" cy="1014097"/>
          </a:xfrm>
          <a:prstGeom prst="rect">
            <a:avLst/>
          </a:prstGeom>
        </p:spPr>
        <p:txBody>
          <a:bodyPr lIns="0" tIns="0" rIns="0" bIns="0" rtlCol="0" anchor="t">
            <a:spAutoFit/>
          </a:bodyPr>
          <a:lstStyle/>
          <a:p>
            <a:pPr marL="0" lvl="0" indent="0">
              <a:lnSpc>
                <a:spcPts val="7840"/>
              </a:lnSpc>
              <a:spcBef>
                <a:spcPct val="0"/>
              </a:spcBef>
            </a:pPr>
            <a:r>
              <a:rPr lang="en-US" sz="7000" dirty="0" err="1">
                <a:solidFill>
                  <a:srgbClr val="9B4819"/>
                </a:solidFill>
                <a:latin typeface="標楷體" panose="03000509000000000000" pitchFamily="65" charset="-120"/>
                <a:ea typeface="標楷體" panose="03000509000000000000" pitchFamily="65" charset="-120"/>
              </a:rPr>
              <a:t>資料庫邏輯設計</a:t>
            </a:r>
            <a:endParaRPr lang="en-US" sz="7000" dirty="0">
              <a:solidFill>
                <a:srgbClr val="9B4819"/>
              </a:solidFill>
              <a:latin typeface="標楷體" panose="03000509000000000000" pitchFamily="65" charset="-120"/>
              <a:ea typeface="標楷體" panose="03000509000000000000" pitchFamily="65" charset="-12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flipV="1">
            <a:off x="1564728" y="1101208"/>
            <a:ext cx="15158545" cy="14073"/>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Freeform 3"/>
          <p:cNvSpPr/>
          <p:nvPr/>
        </p:nvSpPr>
        <p:spPr>
          <a:xfrm>
            <a:off x="3528364" y="2651393"/>
            <a:ext cx="11231272" cy="6902830"/>
          </a:xfrm>
          <a:custGeom>
            <a:avLst/>
            <a:gdLst/>
            <a:ahLst/>
            <a:cxnLst/>
            <a:rect l="l" t="t" r="r" b="b"/>
            <a:pathLst>
              <a:path w="11231272" h="6902830">
                <a:moveTo>
                  <a:pt x="0" y="0"/>
                </a:moveTo>
                <a:lnTo>
                  <a:pt x="11231272" y="0"/>
                </a:lnTo>
                <a:lnTo>
                  <a:pt x="11231272" y="6902830"/>
                </a:lnTo>
                <a:lnTo>
                  <a:pt x="0" y="6902830"/>
                </a:lnTo>
                <a:lnTo>
                  <a:pt x="0" y="0"/>
                </a:lnTo>
                <a:close/>
              </a:path>
            </a:pathLst>
          </a:custGeom>
          <a:blipFill>
            <a:blip r:embed="rId2"/>
            <a:stretch>
              <a:fillRect/>
            </a:stretch>
          </a:blipFill>
        </p:spPr>
        <p:txBody>
          <a:bodyPr/>
          <a:lstStyle/>
          <a:p>
            <a:endParaRPr lang="zh-TW" altLang="en-US" dirty="0">
              <a:latin typeface="標楷體" panose="03000509000000000000" pitchFamily="65" charset="-120"/>
            </a:endParaRPr>
          </a:p>
        </p:txBody>
      </p:sp>
      <p:sp>
        <p:nvSpPr>
          <p:cNvPr id="4" name="TextBox 4"/>
          <p:cNvSpPr txBox="1"/>
          <p:nvPr/>
        </p:nvSpPr>
        <p:spPr>
          <a:xfrm>
            <a:off x="2191680" y="77587"/>
            <a:ext cx="13904640" cy="1014097"/>
          </a:xfrm>
          <a:prstGeom prst="rect">
            <a:avLst/>
          </a:prstGeom>
        </p:spPr>
        <p:txBody>
          <a:bodyPr lIns="0" tIns="0" rIns="0" bIns="0" rtlCol="0" anchor="t">
            <a:spAutoFit/>
          </a:bodyPr>
          <a:lstStyle/>
          <a:p>
            <a:pPr marL="0" lvl="0" indent="0" algn="ctr">
              <a:lnSpc>
                <a:spcPts val="7840"/>
              </a:lnSpc>
              <a:spcBef>
                <a:spcPct val="0"/>
              </a:spcBef>
            </a:pPr>
            <a:r>
              <a:rPr lang="en-US" sz="7000" dirty="0">
                <a:solidFill>
                  <a:srgbClr val="9B4819"/>
                </a:solidFill>
                <a:latin typeface="標楷體" panose="03000509000000000000" pitchFamily="65" charset="-120"/>
                <a:ea typeface="標楷體" panose="03000509000000000000" pitchFamily="65" charset="-120"/>
              </a:rPr>
              <a:t>E-R </a:t>
            </a:r>
            <a:r>
              <a:rPr lang="en-US" sz="7000" dirty="0" err="1">
                <a:solidFill>
                  <a:srgbClr val="9B4819"/>
                </a:solidFill>
                <a:latin typeface="標楷體" panose="03000509000000000000" pitchFamily="65" charset="-120"/>
                <a:ea typeface="標楷體" panose="03000509000000000000" pitchFamily="65" charset="-120"/>
              </a:rPr>
              <a:t>圖轉換關聯表與正規化</a:t>
            </a:r>
            <a:endParaRPr lang="en-US" sz="7000" dirty="0">
              <a:solidFill>
                <a:srgbClr val="9B4819"/>
              </a:solidFill>
              <a:latin typeface="標楷體" panose="03000509000000000000" pitchFamily="65" charset="-120"/>
              <a:ea typeface="標楷體" panose="03000509000000000000" pitchFamily="65" charset="-120"/>
            </a:endParaRPr>
          </a:p>
        </p:txBody>
      </p:sp>
      <p:sp>
        <p:nvSpPr>
          <p:cNvPr id="5" name="TextBox 5"/>
          <p:cNvSpPr txBox="1"/>
          <p:nvPr/>
        </p:nvSpPr>
        <p:spPr>
          <a:xfrm>
            <a:off x="-3242365" y="1559805"/>
            <a:ext cx="13904640" cy="596900"/>
          </a:xfrm>
          <a:prstGeom prst="rect">
            <a:avLst/>
          </a:prstGeom>
        </p:spPr>
        <p:txBody>
          <a:bodyPr lIns="0" tIns="0" rIns="0" bIns="0" rtlCol="0" anchor="t">
            <a:spAutoFit/>
          </a:bodyPr>
          <a:lstStyle/>
          <a:p>
            <a:pPr algn="ctr">
              <a:lnSpc>
                <a:spcPts val="4899"/>
              </a:lnSpc>
            </a:pPr>
            <a:r>
              <a:rPr lang="en-US" sz="3499" dirty="0">
                <a:solidFill>
                  <a:srgbClr val="9B4819"/>
                </a:solidFill>
                <a:latin typeface="標楷體" panose="03000509000000000000" pitchFamily="65" charset="-120"/>
                <a:ea typeface="標楷體" panose="03000509000000000000" pitchFamily="65" charset="-120"/>
              </a:rPr>
              <a:t>一、 E-R </a:t>
            </a:r>
            <a:r>
              <a:rPr lang="en-US" sz="3499" dirty="0" err="1">
                <a:solidFill>
                  <a:srgbClr val="9B4819"/>
                </a:solidFill>
                <a:latin typeface="標楷體" panose="03000509000000000000" pitchFamily="65" charset="-120"/>
                <a:ea typeface="標楷體" panose="03000509000000000000" pitchFamily="65" charset="-120"/>
              </a:rPr>
              <a:t>圖轉換關聯表</a:t>
            </a:r>
            <a:endParaRPr lang="en-US" sz="3499" dirty="0">
              <a:solidFill>
                <a:srgbClr val="9B4819"/>
              </a:solidFill>
              <a:latin typeface="標楷體" panose="03000509000000000000" pitchFamily="65" charset="-120"/>
              <a:ea typeface="標楷體" panose="03000509000000000000" pitchFamily="65" charset="-12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flipV="1">
            <a:off x="1314450" y="1082158"/>
            <a:ext cx="15158545" cy="14073"/>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Freeform 3"/>
          <p:cNvSpPr/>
          <p:nvPr/>
        </p:nvSpPr>
        <p:spPr>
          <a:xfrm>
            <a:off x="1648473" y="2391751"/>
            <a:ext cx="5603554" cy="3309617"/>
          </a:xfrm>
          <a:custGeom>
            <a:avLst/>
            <a:gdLst/>
            <a:ahLst/>
            <a:cxnLst/>
            <a:rect l="l" t="t" r="r" b="b"/>
            <a:pathLst>
              <a:path w="5603554" h="3309617">
                <a:moveTo>
                  <a:pt x="0" y="0"/>
                </a:moveTo>
                <a:lnTo>
                  <a:pt x="5603554" y="0"/>
                </a:lnTo>
                <a:lnTo>
                  <a:pt x="5603554" y="3309617"/>
                </a:lnTo>
                <a:lnTo>
                  <a:pt x="0" y="3309617"/>
                </a:lnTo>
                <a:lnTo>
                  <a:pt x="0" y="0"/>
                </a:lnTo>
                <a:close/>
              </a:path>
            </a:pathLst>
          </a:custGeom>
          <a:blipFill>
            <a:blip r:embed="rId2"/>
            <a:stretch>
              <a:fillRect l="-50732" t="-11789" r="-73115" b="-176003"/>
            </a:stretch>
          </a:blipFill>
        </p:spPr>
        <p:txBody>
          <a:bodyPr/>
          <a:lstStyle/>
          <a:p>
            <a:endParaRPr lang="zh-TW" altLang="en-US" dirty="0">
              <a:latin typeface="標楷體" panose="03000509000000000000" pitchFamily="65" charset="-120"/>
            </a:endParaRPr>
          </a:p>
        </p:txBody>
      </p:sp>
      <p:sp>
        <p:nvSpPr>
          <p:cNvPr id="4" name="Freeform 4"/>
          <p:cNvSpPr/>
          <p:nvPr/>
        </p:nvSpPr>
        <p:spPr>
          <a:xfrm>
            <a:off x="1648473" y="6293800"/>
            <a:ext cx="11171310" cy="2964500"/>
          </a:xfrm>
          <a:custGeom>
            <a:avLst/>
            <a:gdLst/>
            <a:ahLst/>
            <a:cxnLst/>
            <a:rect l="l" t="t" r="r" b="b"/>
            <a:pathLst>
              <a:path w="11171310" h="2964500">
                <a:moveTo>
                  <a:pt x="0" y="0"/>
                </a:moveTo>
                <a:lnTo>
                  <a:pt x="11171310" y="0"/>
                </a:lnTo>
                <a:lnTo>
                  <a:pt x="11171310" y="2964500"/>
                </a:lnTo>
                <a:lnTo>
                  <a:pt x="0" y="2964500"/>
                </a:lnTo>
                <a:lnTo>
                  <a:pt x="0" y="0"/>
                </a:lnTo>
                <a:close/>
              </a:path>
            </a:pathLst>
          </a:custGeom>
          <a:blipFill>
            <a:blip r:embed="rId3"/>
            <a:stretch>
              <a:fillRect/>
            </a:stretch>
          </a:blipFill>
        </p:spPr>
        <p:txBody>
          <a:bodyPr/>
          <a:lstStyle/>
          <a:p>
            <a:endParaRPr lang="zh-TW" altLang="en-US" dirty="0">
              <a:latin typeface="標楷體" panose="03000509000000000000" pitchFamily="65" charset="-120"/>
            </a:endParaRPr>
          </a:p>
        </p:txBody>
      </p:sp>
      <p:sp>
        <p:nvSpPr>
          <p:cNvPr id="5" name="TextBox 5"/>
          <p:cNvSpPr txBox="1"/>
          <p:nvPr/>
        </p:nvSpPr>
        <p:spPr>
          <a:xfrm>
            <a:off x="2191680" y="82135"/>
            <a:ext cx="13904640" cy="1014097"/>
          </a:xfrm>
          <a:prstGeom prst="rect">
            <a:avLst/>
          </a:prstGeom>
        </p:spPr>
        <p:txBody>
          <a:bodyPr lIns="0" tIns="0" rIns="0" bIns="0" rtlCol="0" anchor="t">
            <a:spAutoFit/>
          </a:bodyPr>
          <a:lstStyle/>
          <a:p>
            <a:pPr marL="0" lvl="0" indent="0" algn="ctr">
              <a:lnSpc>
                <a:spcPts val="7840"/>
              </a:lnSpc>
              <a:spcBef>
                <a:spcPct val="0"/>
              </a:spcBef>
            </a:pPr>
            <a:r>
              <a:rPr lang="en-US" sz="7000" dirty="0">
                <a:solidFill>
                  <a:srgbClr val="9B4819"/>
                </a:solidFill>
                <a:latin typeface="標楷體" panose="03000509000000000000" pitchFamily="65" charset="-120"/>
                <a:ea typeface="標楷體" panose="03000509000000000000" pitchFamily="65" charset="-120"/>
              </a:rPr>
              <a:t>E-R </a:t>
            </a:r>
            <a:r>
              <a:rPr lang="en-US" sz="7000" dirty="0" err="1">
                <a:solidFill>
                  <a:srgbClr val="9B4819"/>
                </a:solidFill>
                <a:latin typeface="標楷體" panose="03000509000000000000" pitchFamily="65" charset="-120"/>
                <a:ea typeface="標楷體" panose="03000509000000000000" pitchFamily="65" charset="-120"/>
              </a:rPr>
              <a:t>圖轉換關聯表與正規化</a:t>
            </a:r>
            <a:endParaRPr lang="en-US" sz="7000" dirty="0">
              <a:solidFill>
                <a:srgbClr val="9B4819"/>
              </a:solidFill>
              <a:latin typeface="標楷體" panose="03000509000000000000" pitchFamily="65" charset="-120"/>
              <a:ea typeface="標楷體" panose="03000509000000000000" pitchFamily="65" charset="-120"/>
            </a:endParaRPr>
          </a:p>
        </p:txBody>
      </p:sp>
      <p:sp>
        <p:nvSpPr>
          <p:cNvPr id="6" name="TextBox 6"/>
          <p:cNvSpPr txBox="1"/>
          <p:nvPr/>
        </p:nvSpPr>
        <p:spPr>
          <a:xfrm>
            <a:off x="0" y="1371596"/>
            <a:ext cx="7903890" cy="596900"/>
          </a:xfrm>
          <a:prstGeom prst="rect">
            <a:avLst/>
          </a:prstGeom>
        </p:spPr>
        <p:txBody>
          <a:bodyPr lIns="0" tIns="0" rIns="0" bIns="0" rtlCol="0" anchor="t">
            <a:spAutoFit/>
          </a:bodyPr>
          <a:lstStyle/>
          <a:p>
            <a:pPr algn="ctr">
              <a:lnSpc>
                <a:spcPts val="4899"/>
              </a:lnSpc>
            </a:pPr>
            <a:r>
              <a:rPr lang="en-US" sz="3499" dirty="0">
                <a:solidFill>
                  <a:srgbClr val="9B4819"/>
                </a:solidFill>
                <a:latin typeface="標楷體" panose="03000509000000000000" pitchFamily="65" charset="-120"/>
                <a:ea typeface="標楷體" panose="03000509000000000000" pitchFamily="65" charset="-120"/>
              </a:rPr>
              <a:t>二、 </a:t>
            </a:r>
            <a:r>
              <a:rPr lang="en-US" sz="3499" dirty="0" err="1">
                <a:solidFill>
                  <a:srgbClr val="9B4819"/>
                </a:solidFill>
                <a:latin typeface="標楷體" panose="03000509000000000000" pitchFamily="65" charset="-120"/>
                <a:ea typeface="標楷體" panose="03000509000000000000" pitchFamily="65" charset="-120"/>
              </a:rPr>
              <a:t>關聯表各欄位屬性規劃</a:t>
            </a:r>
            <a:endParaRPr lang="en-US" sz="3499" dirty="0">
              <a:solidFill>
                <a:srgbClr val="9B4819"/>
              </a:solidFill>
              <a:latin typeface="標楷體" panose="03000509000000000000" pitchFamily="65" charset="-120"/>
              <a:ea typeface="標楷體" panose="03000509000000000000" pitchFamily="65" charset="-12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flipV="1">
            <a:off x="1028700" y="1091683"/>
            <a:ext cx="15158545" cy="14073"/>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Freeform 3"/>
          <p:cNvSpPr/>
          <p:nvPr/>
        </p:nvSpPr>
        <p:spPr>
          <a:xfrm>
            <a:off x="1232807" y="1663821"/>
            <a:ext cx="5112727" cy="3180737"/>
          </a:xfrm>
          <a:custGeom>
            <a:avLst/>
            <a:gdLst/>
            <a:ahLst/>
            <a:cxnLst/>
            <a:rect l="l" t="t" r="r" b="b"/>
            <a:pathLst>
              <a:path w="5112727" h="3180737">
                <a:moveTo>
                  <a:pt x="0" y="0"/>
                </a:moveTo>
                <a:lnTo>
                  <a:pt x="5112727" y="0"/>
                </a:lnTo>
                <a:lnTo>
                  <a:pt x="5112727" y="3180738"/>
                </a:lnTo>
                <a:lnTo>
                  <a:pt x="0" y="3180738"/>
                </a:lnTo>
                <a:lnTo>
                  <a:pt x="0" y="0"/>
                </a:lnTo>
                <a:close/>
              </a:path>
            </a:pathLst>
          </a:custGeom>
          <a:blipFill>
            <a:blip r:embed="rId2"/>
            <a:stretch>
              <a:fillRect l="-54823" t="-195252" r="-87071"/>
            </a:stretch>
          </a:blipFill>
        </p:spPr>
        <p:txBody>
          <a:bodyPr/>
          <a:lstStyle/>
          <a:p>
            <a:endParaRPr lang="zh-TW" altLang="en-US" dirty="0">
              <a:latin typeface="標楷體" panose="03000509000000000000" pitchFamily="65" charset="-120"/>
            </a:endParaRPr>
          </a:p>
        </p:txBody>
      </p:sp>
      <p:sp>
        <p:nvSpPr>
          <p:cNvPr id="4" name="Freeform 4"/>
          <p:cNvSpPr/>
          <p:nvPr/>
        </p:nvSpPr>
        <p:spPr>
          <a:xfrm>
            <a:off x="1232807" y="5393099"/>
            <a:ext cx="11093347" cy="3865201"/>
          </a:xfrm>
          <a:custGeom>
            <a:avLst/>
            <a:gdLst/>
            <a:ahLst/>
            <a:cxnLst/>
            <a:rect l="l" t="t" r="r" b="b"/>
            <a:pathLst>
              <a:path w="11093347" h="3865201">
                <a:moveTo>
                  <a:pt x="0" y="0"/>
                </a:moveTo>
                <a:lnTo>
                  <a:pt x="11093347" y="0"/>
                </a:lnTo>
                <a:lnTo>
                  <a:pt x="11093347" y="3865201"/>
                </a:lnTo>
                <a:lnTo>
                  <a:pt x="0" y="3865201"/>
                </a:lnTo>
                <a:lnTo>
                  <a:pt x="0" y="0"/>
                </a:lnTo>
                <a:close/>
              </a:path>
            </a:pathLst>
          </a:custGeom>
          <a:blipFill>
            <a:blip r:embed="rId3"/>
            <a:stretch>
              <a:fillRect/>
            </a:stretch>
          </a:blipFill>
        </p:spPr>
        <p:txBody>
          <a:bodyPr/>
          <a:lstStyle/>
          <a:p>
            <a:endParaRPr lang="zh-TW" altLang="en-US" dirty="0">
              <a:latin typeface="標楷體" panose="03000509000000000000" pitchFamily="65" charset="-12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a:off x="1028700" y="1028700"/>
            <a:ext cx="16230600" cy="0"/>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Freeform 3"/>
          <p:cNvSpPr/>
          <p:nvPr/>
        </p:nvSpPr>
        <p:spPr>
          <a:xfrm>
            <a:off x="1028700" y="2104402"/>
            <a:ext cx="6642228" cy="3306000"/>
          </a:xfrm>
          <a:custGeom>
            <a:avLst/>
            <a:gdLst/>
            <a:ahLst/>
            <a:cxnLst/>
            <a:rect l="l" t="t" r="r" b="b"/>
            <a:pathLst>
              <a:path w="6642228" h="3306000">
                <a:moveTo>
                  <a:pt x="0" y="0"/>
                </a:moveTo>
                <a:lnTo>
                  <a:pt x="6642228" y="0"/>
                </a:lnTo>
                <a:lnTo>
                  <a:pt x="6642228" y="3306000"/>
                </a:lnTo>
                <a:lnTo>
                  <a:pt x="0" y="3306000"/>
                </a:lnTo>
                <a:lnTo>
                  <a:pt x="0" y="0"/>
                </a:lnTo>
                <a:close/>
              </a:path>
            </a:pathLst>
          </a:custGeom>
          <a:blipFill>
            <a:blip r:embed="rId2"/>
            <a:stretch>
              <a:fillRect l="-32852" t="-94395" r="-72063" b="-101492"/>
            </a:stretch>
          </a:blipFill>
        </p:spPr>
        <p:txBody>
          <a:bodyPr/>
          <a:lstStyle/>
          <a:p>
            <a:endParaRPr lang="zh-TW" altLang="en-US" dirty="0">
              <a:latin typeface="標楷體" panose="03000509000000000000" pitchFamily="65" charset="-120"/>
            </a:endParaRPr>
          </a:p>
        </p:txBody>
      </p:sp>
      <p:sp>
        <p:nvSpPr>
          <p:cNvPr id="4" name="Freeform 4"/>
          <p:cNvSpPr/>
          <p:nvPr/>
        </p:nvSpPr>
        <p:spPr>
          <a:xfrm>
            <a:off x="1028700" y="5929638"/>
            <a:ext cx="16112143" cy="3328662"/>
          </a:xfrm>
          <a:custGeom>
            <a:avLst/>
            <a:gdLst/>
            <a:ahLst/>
            <a:cxnLst/>
            <a:rect l="l" t="t" r="r" b="b"/>
            <a:pathLst>
              <a:path w="16112143" h="3328662">
                <a:moveTo>
                  <a:pt x="0" y="0"/>
                </a:moveTo>
                <a:lnTo>
                  <a:pt x="16112143" y="0"/>
                </a:lnTo>
                <a:lnTo>
                  <a:pt x="16112143" y="3328662"/>
                </a:lnTo>
                <a:lnTo>
                  <a:pt x="0" y="3328662"/>
                </a:lnTo>
                <a:lnTo>
                  <a:pt x="0" y="0"/>
                </a:lnTo>
                <a:close/>
              </a:path>
            </a:pathLst>
          </a:custGeom>
          <a:blipFill>
            <a:blip r:embed="rId3"/>
            <a:stretch>
              <a:fillRect/>
            </a:stretch>
          </a:blipFill>
        </p:spPr>
        <p:txBody>
          <a:bodyPr/>
          <a:lstStyle/>
          <a:p>
            <a:endParaRPr lang="zh-TW" altLang="en-US" dirty="0">
              <a:latin typeface="標楷體" panose="03000509000000000000" pitchFamily="65" charset="-12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a:off x="2103030" y="1249136"/>
            <a:ext cx="14022940" cy="62983"/>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Freeform 3"/>
          <p:cNvSpPr/>
          <p:nvPr/>
        </p:nvSpPr>
        <p:spPr>
          <a:xfrm>
            <a:off x="1028700" y="3398788"/>
            <a:ext cx="6666087" cy="2988246"/>
          </a:xfrm>
          <a:custGeom>
            <a:avLst/>
            <a:gdLst/>
            <a:ahLst/>
            <a:cxnLst/>
            <a:rect l="l" t="t" r="r" b="b"/>
            <a:pathLst>
              <a:path w="6666087" h="2988246">
                <a:moveTo>
                  <a:pt x="0" y="0"/>
                </a:moveTo>
                <a:lnTo>
                  <a:pt x="6666087" y="0"/>
                </a:lnTo>
                <a:lnTo>
                  <a:pt x="6666087" y="2988246"/>
                </a:lnTo>
                <a:lnTo>
                  <a:pt x="0" y="2988246"/>
                </a:lnTo>
                <a:lnTo>
                  <a:pt x="0" y="0"/>
                </a:lnTo>
                <a:close/>
              </a:path>
            </a:pathLst>
          </a:custGeom>
          <a:blipFill>
            <a:blip r:embed="rId2"/>
            <a:stretch>
              <a:fillRect/>
            </a:stretch>
          </a:blipFill>
        </p:spPr>
        <p:txBody>
          <a:bodyPr/>
          <a:lstStyle/>
          <a:p>
            <a:endParaRPr lang="zh-TW" altLang="en-US" dirty="0">
              <a:latin typeface="標楷體" panose="03000509000000000000" pitchFamily="65" charset="-120"/>
            </a:endParaRPr>
          </a:p>
        </p:txBody>
      </p:sp>
      <p:sp>
        <p:nvSpPr>
          <p:cNvPr id="4" name="Freeform 4"/>
          <p:cNvSpPr/>
          <p:nvPr/>
        </p:nvSpPr>
        <p:spPr>
          <a:xfrm>
            <a:off x="11431629" y="3398788"/>
            <a:ext cx="5609516" cy="5049282"/>
          </a:xfrm>
          <a:custGeom>
            <a:avLst/>
            <a:gdLst/>
            <a:ahLst/>
            <a:cxnLst/>
            <a:rect l="l" t="t" r="r" b="b"/>
            <a:pathLst>
              <a:path w="5609516" h="5049282">
                <a:moveTo>
                  <a:pt x="0" y="0"/>
                </a:moveTo>
                <a:lnTo>
                  <a:pt x="5609516" y="0"/>
                </a:lnTo>
                <a:lnTo>
                  <a:pt x="5609516" y="5049282"/>
                </a:lnTo>
                <a:lnTo>
                  <a:pt x="0" y="5049282"/>
                </a:lnTo>
                <a:lnTo>
                  <a:pt x="0" y="0"/>
                </a:lnTo>
                <a:close/>
              </a:path>
            </a:pathLst>
          </a:custGeom>
          <a:blipFill>
            <a:blip r:embed="rId3"/>
            <a:stretch>
              <a:fillRect/>
            </a:stretch>
          </a:blipFill>
        </p:spPr>
        <p:txBody>
          <a:bodyPr/>
          <a:lstStyle/>
          <a:p>
            <a:endParaRPr lang="zh-TW" altLang="en-US" dirty="0">
              <a:latin typeface="標楷體" panose="03000509000000000000" pitchFamily="65" charset="-120"/>
            </a:endParaRPr>
          </a:p>
        </p:txBody>
      </p:sp>
      <p:grpSp>
        <p:nvGrpSpPr>
          <p:cNvPr id="5" name="Group 5"/>
          <p:cNvGrpSpPr/>
          <p:nvPr/>
        </p:nvGrpSpPr>
        <p:grpSpPr>
          <a:xfrm>
            <a:off x="8856645" y="4006623"/>
            <a:ext cx="1340984" cy="1136877"/>
            <a:chOff x="0" y="0"/>
            <a:chExt cx="812800" cy="689086"/>
          </a:xfrm>
        </p:grpSpPr>
        <p:sp>
          <p:nvSpPr>
            <p:cNvPr id="6" name="Freeform 6"/>
            <p:cNvSpPr/>
            <p:nvPr/>
          </p:nvSpPr>
          <p:spPr>
            <a:xfrm>
              <a:off x="0" y="0"/>
              <a:ext cx="812800" cy="689086"/>
            </a:xfrm>
            <a:custGeom>
              <a:avLst/>
              <a:gdLst/>
              <a:ahLst/>
              <a:cxnLst/>
              <a:rect l="l" t="t" r="r" b="b"/>
              <a:pathLst>
                <a:path w="812800" h="689086">
                  <a:moveTo>
                    <a:pt x="812800" y="344543"/>
                  </a:moveTo>
                  <a:lnTo>
                    <a:pt x="406400" y="0"/>
                  </a:lnTo>
                  <a:lnTo>
                    <a:pt x="406400" y="203200"/>
                  </a:lnTo>
                  <a:lnTo>
                    <a:pt x="0" y="203200"/>
                  </a:lnTo>
                  <a:lnTo>
                    <a:pt x="0" y="485886"/>
                  </a:lnTo>
                  <a:lnTo>
                    <a:pt x="406400" y="485886"/>
                  </a:lnTo>
                  <a:lnTo>
                    <a:pt x="406400" y="689086"/>
                  </a:lnTo>
                  <a:lnTo>
                    <a:pt x="812800" y="344543"/>
                  </a:lnTo>
                  <a:close/>
                </a:path>
              </a:pathLst>
            </a:custGeom>
            <a:solidFill>
              <a:srgbClr val="9B4819"/>
            </a:solidFill>
          </p:spPr>
          <p:txBody>
            <a:bodyPr/>
            <a:lstStyle/>
            <a:p>
              <a:endParaRPr lang="zh-TW" altLang="en-US" dirty="0">
                <a:latin typeface="標楷體" panose="03000509000000000000" pitchFamily="65" charset="-120"/>
              </a:endParaRPr>
            </a:p>
          </p:txBody>
        </p:sp>
        <p:sp>
          <p:nvSpPr>
            <p:cNvPr id="7" name="TextBox 7"/>
            <p:cNvSpPr txBox="1"/>
            <p:nvPr/>
          </p:nvSpPr>
          <p:spPr>
            <a:xfrm>
              <a:off x="0" y="155575"/>
              <a:ext cx="711200" cy="330311"/>
            </a:xfrm>
            <a:prstGeom prst="rect">
              <a:avLst/>
            </a:prstGeom>
          </p:spPr>
          <p:txBody>
            <a:bodyPr lIns="50800" tIns="50800" rIns="50800" bIns="50800" rtlCol="0" anchor="ctr"/>
            <a:lstStyle/>
            <a:p>
              <a:pPr algn="ctr">
                <a:lnSpc>
                  <a:spcPts val="3080"/>
                </a:lnSpc>
              </a:pPr>
              <a:endParaRPr dirty="0">
                <a:latin typeface="標楷體" panose="03000509000000000000" pitchFamily="65" charset="-120"/>
              </a:endParaRPr>
            </a:p>
          </p:txBody>
        </p:sp>
      </p:grpSp>
      <p:sp>
        <p:nvSpPr>
          <p:cNvPr id="8" name="TextBox 8"/>
          <p:cNvSpPr txBox="1"/>
          <p:nvPr/>
        </p:nvSpPr>
        <p:spPr>
          <a:xfrm>
            <a:off x="783771" y="1545498"/>
            <a:ext cx="3507462" cy="578620"/>
          </a:xfrm>
          <a:prstGeom prst="rect">
            <a:avLst/>
          </a:prstGeom>
        </p:spPr>
        <p:txBody>
          <a:bodyPr lIns="0" tIns="0" rIns="0" bIns="0" rtlCol="0" anchor="t">
            <a:spAutoFit/>
          </a:bodyPr>
          <a:lstStyle/>
          <a:p>
            <a:pPr algn="ctr">
              <a:lnSpc>
                <a:spcPts val="4900"/>
              </a:lnSpc>
            </a:pPr>
            <a:r>
              <a:rPr lang="en-US" sz="3500" dirty="0">
                <a:solidFill>
                  <a:srgbClr val="9B4819"/>
                </a:solidFill>
                <a:latin typeface="標楷體" panose="03000509000000000000" pitchFamily="65" charset="-120"/>
                <a:ea typeface="標楷體" panose="03000509000000000000" pitchFamily="65" charset="-120"/>
              </a:rPr>
              <a:t>三、 </a:t>
            </a:r>
            <a:r>
              <a:rPr lang="en-US" sz="3500" dirty="0" err="1">
                <a:solidFill>
                  <a:srgbClr val="9B4819"/>
                </a:solidFill>
                <a:latin typeface="標楷體" panose="03000509000000000000" pitchFamily="65" charset="-120"/>
                <a:ea typeface="標楷體" panose="03000509000000000000" pitchFamily="65" charset="-120"/>
              </a:rPr>
              <a:t>正規化</a:t>
            </a:r>
            <a:endParaRPr lang="en-US" sz="3500" dirty="0">
              <a:solidFill>
                <a:srgbClr val="9B4819"/>
              </a:solidFill>
              <a:latin typeface="標楷體" panose="03000509000000000000" pitchFamily="65" charset="-120"/>
              <a:ea typeface="標楷體" panose="03000509000000000000" pitchFamily="65" charset="-120"/>
            </a:endParaRPr>
          </a:p>
        </p:txBody>
      </p:sp>
      <p:sp>
        <p:nvSpPr>
          <p:cNvPr id="9" name="TextBox 9"/>
          <p:cNvSpPr txBox="1"/>
          <p:nvPr/>
        </p:nvSpPr>
        <p:spPr>
          <a:xfrm>
            <a:off x="332102" y="2499690"/>
            <a:ext cx="7916242" cy="602794"/>
          </a:xfrm>
          <a:prstGeom prst="rect">
            <a:avLst/>
          </a:prstGeom>
        </p:spPr>
        <p:txBody>
          <a:bodyPr lIns="0" tIns="0" rIns="0" bIns="0" rtlCol="0" anchor="t">
            <a:spAutoFit/>
          </a:bodyPr>
          <a:lstStyle/>
          <a:p>
            <a:pPr marL="790732" lvl="1" indent="-395366" algn="ctr">
              <a:lnSpc>
                <a:spcPts val="5127"/>
              </a:lnSpc>
              <a:buFont typeface="Arial"/>
              <a:buChar char="•"/>
            </a:pPr>
            <a:r>
              <a:rPr lang="en-US" sz="3662" dirty="0">
                <a:solidFill>
                  <a:srgbClr val="9B4819"/>
                </a:solidFill>
                <a:latin typeface="標楷體" panose="03000509000000000000" pitchFamily="65" charset="-120"/>
                <a:ea typeface="標楷體" panose="03000509000000000000" pitchFamily="65" charset="-120"/>
              </a:rPr>
              <a:t>1NF:每個屬性皆為基元值-</a:t>
            </a:r>
            <a:r>
              <a:rPr lang="en-US" sz="3662" dirty="0">
                <a:solidFill>
                  <a:srgbClr val="DD0000"/>
                </a:solidFill>
                <a:latin typeface="標楷體" panose="03000509000000000000" pitchFamily="65" charset="-120"/>
                <a:ea typeface="標楷體" panose="03000509000000000000" pitchFamily="65" charset="-120"/>
              </a:rPr>
              <a:t>不符合</a:t>
            </a:r>
            <a:r>
              <a:rPr lang="en-US" sz="3662" dirty="0">
                <a:solidFill>
                  <a:srgbClr val="9B4819"/>
                </a:solidFill>
                <a:latin typeface="標楷體" panose="03000509000000000000" pitchFamily="65" charset="-120"/>
              </a:rPr>
              <a:t>  </a:t>
            </a:r>
          </a:p>
        </p:txBody>
      </p:sp>
      <p:sp>
        <p:nvSpPr>
          <p:cNvPr id="10" name="TextBox 10"/>
          <p:cNvSpPr txBox="1"/>
          <p:nvPr/>
        </p:nvSpPr>
        <p:spPr>
          <a:xfrm>
            <a:off x="10197629" y="1810610"/>
            <a:ext cx="7061671" cy="1189990"/>
          </a:xfrm>
          <a:prstGeom prst="rect">
            <a:avLst/>
          </a:prstGeom>
        </p:spPr>
        <p:txBody>
          <a:bodyPr lIns="0" tIns="0" rIns="0" bIns="0" rtlCol="0" anchor="t">
            <a:spAutoFit/>
          </a:bodyPr>
          <a:lstStyle/>
          <a:p>
            <a:pPr algn="ctr">
              <a:lnSpc>
                <a:spcPts val="4759"/>
              </a:lnSpc>
            </a:pPr>
            <a:r>
              <a:rPr lang="en-US" sz="3399" dirty="0" err="1">
                <a:solidFill>
                  <a:srgbClr val="9B4819"/>
                </a:solidFill>
                <a:latin typeface="標楷體" panose="03000509000000000000" pitchFamily="65" charset="-120"/>
                <a:ea typeface="標楷體" panose="03000509000000000000" pitchFamily="65" charset="-120"/>
              </a:rPr>
              <a:t>作法:將其拆成多筆資料</a:t>
            </a:r>
            <a:endParaRPr lang="en-US" sz="3399" dirty="0">
              <a:solidFill>
                <a:srgbClr val="9B4819"/>
              </a:solidFill>
              <a:latin typeface="標楷體" panose="03000509000000000000" pitchFamily="65" charset="-120"/>
              <a:ea typeface="標楷體" panose="03000509000000000000" pitchFamily="65" charset="-120"/>
            </a:endParaRPr>
          </a:p>
          <a:p>
            <a:pPr algn="ctr">
              <a:lnSpc>
                <a:spcPts val="4759"/>
              </a:lnSpc>
            </a:pPr>
            <a:r>
              <a:rPr lang="en-US" sz="3399" dirty="0">
                <a:solidFill>
                  <a:srgbClr val="9B4819"/>
                </a:solidFill>
                <a:latin typeface="標楷體" panose="03000509000000000000" pitchFamily="65" charset="-120"/>
                <a:ea typeface="標楷體" panose="03000509000000000000" pitchFamily="65" charset="-120"/>
              </a:rPr>
              <a:t>(</a:t>
            </a:r>
            <a:r>
              <a:rPr lang="en-US" sz="3399" dirty="0" err="1">
                <a:solidFill>
                  <a:srgbClr val="9B4819"/>
                </a:solidFill>
                <a:latin typeface="標楷體" panose="03000509000000000000" pitchFamily="65" charset="-120"/>
                <a:ea typeface="標楷體" panose="03000509000000000000" pitchFamily="65" charset="-120"/>
              </a:rPr>
              <a:t>多值屬性分解成多個值組</a:t>
            </a:r>
            <a:r>
              <a:rPr lang="en-US" sz="3399" dirty="0">
                <a:solidFill>
                  <a:srgbClr val="9B4819"/>
                </a:solidFill>
                <a:latin typeface="標楷體" panose="03000509000000000000" pitchFamily="65" charset="-120"/>
                <a:ea typeface="標楷體" panose="03000509000000000000" pitchFamily="65" charset="-120"/>
              </a:rPr>
              <a:t>)</a:t>
            </a:r>
          </a:p>
        </p:txBody>
      </p:sp>
      <p:sp>
        <p:nvSpPr>
          <p:cNvPr id="11" name="TextBox 11"/>
          <p:cNvSpPr txBox="1"/>
          <p:nvPr/>
        </p:nvSpPr>
        <p:spPr>
          <a:xfrm>
            <a:off x="429287" y="6773733"/>
            <a:ext cx="11002342" cy="2709596"/>
          </a:xfrm>
          <a:prstGeom prst="rect">
            <a:avLst/>
          </a:prstGeom>
        </p:spPr>
        <p:txBody>
          <a:bodyPr lIns="0" tIns="0" rIns="0" bIns="0" rtlCol="0" anchor="t">
            <a:spAutoFit/>
          </a:bodyPr>
          <a:lstStyle/>
          <a:p>
            <a:pPr marL="790194" lvl="1" indent="-395097">
              <a:lnSpc>
                <a:spcPts val="7356"/>
              </a:lnSpc>
              <a:buFont typeface="Arial"/>
              <a:buChar char="•"/>
            </a:pPr>
            <a:r>
              <a:rPr lang="en-US" sz="3659" dirty="0">
                <a:solidFill>
                  <a:srgbClr val="9B4819"/>
                </a:solidFill>
                <a:latin typeface="標楷體" panose="03000509000000000000" pitchFamily="65" charset="-120"/>
                <a:ea typeface="標楷體" panose="03000509000000000000" pitchFamily="65" charset="-120"/>
              </a:rPr>
              <a:t>2NF:所有非鍵值屬性皆完成功能相依於主鍵-</a:t>
            </a:r>
            <a:r>
              <a:rPr lang="en-US" sz="3659" dirty="0">
                <a:solidFill>
                  <a:srgbClr val="62A23C"/>
                </a:solidFill>
                <a:latin typeface="標楷體" panose="03000509000000000000" pitchFamily="65" charset="-120"/>
                <a:ea typeface="標楷體" panose="03000509000000000000" pitchFamily="65" charset="-120"/>
              </a:rPr>
              <a:t>符合</a:t>
            </a:r>
            <a:r>
              <a:rPr lang="en-US" sz="3659" dirty="0">
                <a:solidFill>
                  <a:srgbClr val="9B4819"/>
                </a:solidFill>
                <a:latin typeface="標楷體" panose="03000509000000000000" pitchFamily="65" charset="-120"/>
              </a:rPr>
              <a:t> </a:t>
            </a:r>
          </a:p>
          <a:p>
            <a:pPr marL="790194" lvl="1" indent="-395097">
              <a:lnSpc>
                <a:spcPts val="7356"/>
              </a:lnSpc>
              <a:buFont typeface="Arial"/>
              <a:buChar char="•"/>
            </a:pPr>
            <a:r>
              <a:rPr lang="en-US" sz="3659" dirty="0">
                <a:solidFill>
                  <a:srgbClr val="9B4819"/>
                </a:solidFill>
                <a:latin typeface="標楷體" panose="03000509000000000000" pitchFamily="65" charset="-120"/>
                <a:ea typeface="標楷體" panose="03000509000000000000" pitchFamily="65" charset="-120"/>
              </a:rPr>
              <a:t>3NF:非鍵值屬性間不存在相依功能-</a:t>
            </a:r>
            <a:r>
              <a:rPr lang="en-US" sz="3659" dirty="0">
                <a:solidFill>
                  <a:srgbClr val="62A23C"/>
                </a:solidFill>
                <a:latin typeface="標楷體" panose="03000509000000000000" pitchFamily="65" charset="-120"/>
                <a:ea typeface="標楷體" panose="03000509000000000000" pitchFamily="65" charset="-120"/>
              </a:rPr>
              <a:t>符合</a:t>
            </a:r>
            <a:r>
              <a:rPr lang="en-US" sz="3659" dirty="0">
                <a:solidFill>
                  <a:srgbClr val="9B4819"/>
                </a:solidFill>
                <a:latin typeface="標楷體" panose="03000509000000000000" pitchFamily="65" charset="-120"/>
              </a:rPr>
              <a:t> </a:t>
            </a:r>
          </a:p>
          <a:p>
            <a:pPr marL="790194" lvl="1" indent="-395097">
              <a:lnSpc>
                <a:spcPts val="7356"/>
              </a:lnSpc>
              <a:buFont typeface="Arial"/>
              <a:buChar char="•"/>
            </a:pPr>
            <a:r>
              <a:rPr lang="en-US" sz="3659" dirty="0" err="1">
                <a:solidFill>
                  <a:srgbClr val="9B4819"/>
                </a:solidFill>
                <a:latin typeface="標楷體" panose="03000509000000000000" pitchFamily="65" charset="-120"/>
                <a:ea typeface="標楷體" panose="03000509000000000000" pitchFamily="65" charset="-120"/>
              </a:rPr>
              <a:t>BCNF:功能相依決定因素都是候選鍵-</a:t>
            </a:r>
            <a:r>
              <a:rPr lang="en-US" sz="3659" dirty="0" err="1">
                <a:solidFill>
                  <a:srgbClr val="62A23C"/>
                </a:solidFill>
                <a:latin typeface="標楷體" panose="03000509000000000000" pitchFamily="65" charset="-120"/>
                <a:ea typeface="標楷體" panose="03000509000000000000" pitchFamily="65" charset="-120"/>
              </a:rPr>
              <a:t>符合</a:t>
            </a:r>
            <a:endParaRPr lang="en-US" sz="3659" dirty="0">
              <a:solidFill>
                <a:srgbClr val="62A23C"/>
              </a:solidFill>
              <a:latin typeface="標楷體" panose="03000509000000000000" pitchFamily="65" charset="-120"/>
              <a:ea typeface="標楷體" panose="03000509000000000000" pitchFamily="65" charset="-120"/>
            </a:endParaRPr>
          </a:p>
        </p:txBody>
      </p:sp>
      <p:sp>
        <p:nvSpPr>
          <p:cNvPr id="12" name="TextBox 12"/>
          <p:cNvSpPr txBox="1"/>
          <p:nvPr/>
        </p:nvSpPr>
        <p:spPr>
          <a:xfrm>
            <a:off x="2191680" y="225514"/>
            <a:ext cx="13904640" cy="1014097"/>
          </a:xfrm>
          <a:prstGeom prst="rect">
            <a:avLst/>
          </a:prstGeom>
        </p:spPr>
        <p:txBody>
          <a:bodyPr lIns="0" tIns="0" rIns="0" bIns="0" rtlCol="0" anchor="t">
            <a:spAutoFit/>
          </a:bodyPr>
          <a:lstStyle/>
          <a:p>
            <a:pPr marL="0" lvl="0" indent="0" algn="ctr">
              <a:lnSpc>
                <a:spcPts val="7840"/>
              </a:lnSpc>
              <a:spcBef>
                <a:spcPct val="0"/>
              </a:spcBef>
            </a:pPr>
            <a:r>
              <a:rPr lang="en-US" sz="7000" dirty="0">
                <a:solidFill>
                  <a:srgbClr val="9B4819"/>
                </a:solidFill>
                <a:latin typeface="標楷體" panose="03000509000000000000" pitchFamily="65" charset="-120"/>
                <a:ea typeface="標楷體" panose="03000509000000000000" pitchFamily="65" charset="-120"/>
              </a:rPr>
              <a:t>E-R </a:t>
            </a:r>
            <a:r>
              <a:rPr lang="en-US" sz="7000" dirty="0" err="1">
                <a:solidFill>
                  <a:srgbClr val="9B4819"/>
                </a:solidFill>
                <a:latin typeface="標楷體" panose="03000509000000000000" pitchFamily="65" charset="-120"/>
                <a:ea typeface="標楷體" panose="03000509000000000000" pitchFamily="65" charset="-120"/>
              </a:rPr>
              <a:t>圖轉換關聯表與正規化</a:t>
            </a:r>
            <a:endParaRPr lang="en-US" sz="7000" dirty="0">
              <a:solidFill>
                <a:srgbClr val="9B4819"/>
              </a:solidFill>
              <a:latin typeface="標楷體" panose="03000509000000000000" pitchFamily="65" charset="-120"/>
              <a:ea typeface="標楷體" panose="03000509000000000000" pitchFamily="65" charset="-12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flipV="1">
            <a:off x="1028709" y="1481489"/>
            <a:ext cx="15158545" cy="14073"/>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Freeform 3"/>
          <p:cNvSpPr/>
          <p:nvPr/>
        </p:nvSpPr>
        <p:spPr>
          <a:xfrm>
            <a:off x="1028709" y="3131824"/>
            <a:ext cx="3978341" cy="1906987"/>
          </a:xfrm>
          <a:custGeom>
            <a:avLst/>
            <a:gdLst/>
            <a:ahLst/>
            <a:cxnLst/>
            <a:rect l="l" t="t" r="r" b="b"/>
            <a:pathLst>
              <a:path w="3978341" h="1906987">
                <a:moveTo>
                  <a:pt x="0" y="0"/>
                </a:moveTo>
                <a:lnTo>
                  <a:pt x="3978341" y="0"/>
                </a:lnTo>
                <a:lnTo>
                  <a:pt x="3978341" y="1906987"/>
                </a:lnTo>
                <a:lnTo>
                  <a:pt x="0" y="1906987"/>
                </a:lnTo>
                <a:lnTo>
                  <a:pt x="0" y="0"/>
                </a:lnTo>
                <a:close/>
              </a:path>
            </a:pathLst>
          </a:custGeom>
          <a:blipFill>
            <a:blip r:embed="rId2"/>
            <a:stretch>
              <a:fillRect l="-36390"/>
            </a:stretch>
          </a:blipFill>
        </p:spPr>
        <p:txBody>
          <a:bodyPr/>
          <a:lstStyle/>
          <a:p>
            <a:endParaRPr lang="zh-TW" altLang="en-US" dirty="0">
              <a:latin typeface="標楷體" panose="03000509000000000000" pitchFamily="65" charset="-120"/>
            </a:endParaRPr>
          </a:p>
        </p:txBody>
      </p:sp>
      <p:sp>
        <p:nvSpPr>
          <p:cNvPr id="4" name="Freeform 4"/>
          <p:cNvSpPr/>
          <p:nvPr/>
        </p:nvSpPr>
        <p:spPr>
          <a:xfrm>
            <a:off x="525724" y="6201912"/>
            <a:ext cx="9897189" cy="3056388"/>
          </a:xfrm>
          <a:custGeom>
            <a:avLst/>
            <a:gdLst/>
            <a:ahLst/>
            <a:cxnLst/>
            <a:rect l="l" t="t" r="r" b="b"/>
            <a:pathLst>
              <a:path w="9897189" h="3056388">
                <a:moveTo>
                  <a:pt x="0" y="0"/>
                </a:moveTo>
                <a:lnTo>
                  <a:pt x="9897189" y="0"/>
                </a:lnTo>
                <a:lnTo>
                  <a:pt x="9897189" y="3056388"/>
                </a:lnTo>
                <a:lnTo>
                  <a:pt x="0" y="3056388"/>
                </a:lnTo>
                <a:lnTo>
                  <a:pt x="0" y="0"/>
                </a:lnTo>
                <a:close/>
              </a:path>
            </a:pathLst>
          </a:custGeom>
          <a:blipFill>
            <a:blip r:embed="rId3"/>
            <a:stretch>
              <a:fillRect l="-4690"/>
            </a:stretch>
          </a:blipFill>
        </p:spPr>
        <p:txBody>
          <a:bodyPr/>
          <a:lstStyle/>
          <a:p>
            <a:endParaRPr lang="zh-TW" altLang="en-US" dirty="0">
              <a:latin typeface="標楷體" panose="03000509000000000000" pitchFamily="65" charset="-120"/>
            </a:endParaRPr>
          </a:p>
        </p:txBody>
      </p:sp>
      <p:sp>
        <p:nvSpPr>
          <p:cNvPr id="5" name="Freeform 5"/>
          <p:cNvSpPr/>
          <p:nvPr/>
        </p:nvSpPr>
        <p:spPr>
          <a:xfrm>
            <a:off x="6627942" y="4085318"/>
            <a:ext cx="10930460" cy="1058182"/>
          </a:xfrm>
          <a:custGeom>
            <a:avLst/>
            <a:gdLst/>
            <a:ahLst/>
            <a:cxnLst/>
            <a:rect l="l" t="t" r="r" b="b"/>
            <a:pathLst>
              <a:path w="10930460" h="1058182">
                <a:moveTo>
                  <a:pt x="0" y="0"/>
                </a:moveTo>
                <a:lnTo>
                  <a:pt x="10930461" y="0"/>
                </a:lnTo>
                <a:lnTo>
                  <a:pt x="10930461" y="1058182"/>
                </a:lnTo>
                <a:lnTo>
                  <a:pt x="0" y="1058182"/>
                </a:lnTo>
                <a:lnTo>
                  <a:pt x="0" y="0"/>
                </a:lnTo>
                <a:close/>
              </a:path>
            </a:pathLst>
          </a:custGeom>
          <a:blipFill>
            <a:blip r:embed="rId4"/>
            <a:stretch>
              <a:fillRect l="-6056"/>
            </a:stretch>
          </a:blipFill>
        </p:spPr>
        <p:txBody>
          <a:bodyPr/>
          <a:lstStyle/>
          <a:p>
            <a:endParaRPr lang="zh-TW" altLang="en-US" dirty="0">
              <a:latin typeface="標楷體" panose="03000509000000000000" pitchFamily="65" charset="-120"/>
            </a:endParaRPr>
          </a:p>
        </p:txBody>
      </p:sp>
      <p:sp>
        <p:nvSpPr>
          <p:cNvPr id="6" name="Freeform 6"/>
          <p:cNvSpPr/>
          <p:nvPr/>
        </p:nvSpPr>
        <p:spPr>
          <a:xfrm>
            <a:off x="10422454" y="6297247"/>
            <a:ext cx="7543104" cy="3004533"/>
          </a:xfrm>
          <a:custGeom>
            <a:avLst/>
            <a:gdLst/>
            <a:ahLst/>
            <a:cxnLst/>
            <a:rect l="l" t="t" r="r" b="b"/>
            <a:pathLst>
              <a:path w="7543104" h="3004533">
                <a:moveTo>
                  <a:pt x="0" y="0"/>
                </a:moveTo>
                <a:lnTo>
                  <a:pt x="7543104" y="0"/>
                </a:lnTo>
                <a:lnTo>
                  <a:pt x="7543104" y="3004533"/>
                </a:lnTo>
                <a:lnTo>
                  <a:pt x="0" y="3004533"/>
                </a:lnTo>
                <a:lnTo>
                  <a:pt x="0" y="0"/>
                </a:lnTo>
                <a:close/>
              </a:path>
            </a:pathLst>
          </a:custGeom>
          <a:blipFill>
            <a:blip r:embed="rId5"/>
            <a:stretch>
              <a:fillRect/>
            </a:stretch>
          </a:blipFill>
        </p:spPr>
        <p:txBody>
          <a:bodyPr/>
          <a:lstStyle/>
          <a:p>
            <a:endParaRPr lang="zh-TW" altLang="en-US" dirty="0">
              <a:latin typeface="標楷體" panose="03000509000000000000" pitchFamily="65" charset="-120"/>
            </a:endParaRPr>
          </a:p>
        </p:txBody>
      </p:sp>
      <p:sp>
        <p:nvSpPr>
          <p:cNvPr id="7" name="TextBox 7"/>
          <p:cNvSpPr txBox="1"/>
          <p:nvPr/>
        </p:nvSpPr>
        <p:spPr>
          <a:xfrm>
            <a:off x="1028709" y="223190"/>
            <a:ext cx="6638973" cy="1014097"/>
          </a:xfrm>
          <a:prstGeom prst="rect">
            <a:avLst/>
          </a:prstGeom>
        </p:spPr>
        <p:txBody>
          <a:bodyPr lIns="0" tIns="0" rIns="0" bIns="0" rtlCol="0" anchor="t">
            <a:spAutoFit/>
          </a:bodyPr>
          <a:lstStyle/>
          <a:p>
            <a:pPr marL="0" lvl="0" indent="0">
              <a:lnSpc>
                <a:spcPts val="7840"/>
              </a:lnSpc>
              <a:spcBef>
                <a:spcPct val="0"/>
              </a:spcBef>
            </a:pPr>
            <a:r>
              <a:rPr lang="en-US" sz="7000" dirty="0" err="1">
                <a:solidFill>
                  <a:srgbClr val="9B4819"/>
                </a:solidFill>
                <a:latin typeface="標楷體" panose="03000509000000000000" pitchFamily="65" charset="-120"/>
                <a:ea typeface="標楷體" panose="03000509000000000000" pitchFamily="65" charset="-120"/>
              </a:rPr>
              <a:t>實體建置</a:t>
            </a:r>
            <a:endParaRPr lang="en-US" sz="7000" dirty="0">
              <a:solidFill>
                <a:srgbClr val="9B4819"/>
              </a:solidFill>
              <a:latin typeface="標楷體" panose="03000509000000000000" pitchFamily="65" charset="-120"/>
              <a:ea typeface="標楷體" panose="03000509000000000000" pitchFamily="65" charset="-120"/>
            </a:endParaRPr>
          </a:p>
        </p:txBody>
      </p:sp>
      <p:sp>
        <p:nvSpPr>
          <p:cNvPr id="8" name="TextBox 8"/>
          <p:cNvSpPr txBox="1"/>
          <p:nvPr/>
        </p:nvSpPr>
        <p:spPr>
          <a:xfrm>
            <a:off x="525724" y="5465396"/>
            <a:ext cx="3978341" cy="679450"/>
          </a:xfrm>
          <a:prstGeom prst="rect">
            <a:avLst/>
          </a:prstGeom>
        </p:spPr>
        <p:txBody>
          <a:bodyPr wrap="square" lIns="0" tIns="0" rIns="0" bIns="0" rtlCol="0" anchor="t">
            <a:spAutoFit/>
          </a:bodyPr>
          <a:lstStyle/>
          <a:p>
            <a:pPr marL="863596" lvl="1" indent="-431798" algn="ctr">
              <a:lnSpc>
                <a:spcPts val="5599"/>
              </a:lnSpc>
              <a:buFont typeface="Arial"/>
              <a:buChar char="•"/>
            </a:pPr>
            <a:r>
              <a:rPr lang="en-US" sz="3999" dirty="0" err="1">
                <a:solidFill>
                  <a:srgbClr val="9B4819"/>
                </a:solidFill>
                <a:latin typeface="標楷體" panose="03000509000000000000" pitchFamily="65" charset="-120"/>
                <a:ea typeface="標楷體" panose="03000509000000000000" pitchFamily="65" charset="-120"/>
              </a:rPr>
              <a:t>創建表格</a:t>
            </a:r>
            <a:endParaRPr lang="en-US" sz="3999" dirty="0">
              <a:solidFill>
                <a:srgbClr val="9B4819"/>
              </a:solidFill>
              <a:latin typeface="標楷體" panose="03000509000000000000" pitchFamily="65" charset="-120"/>
              <a:ea typeface="標楷體" panose="03000509000000000000" pitchFamily="65" charset="-120"/>
            </a:endParaRPr>
          </a:p>
        </p:txBody>
      </p:sp>
      <p:sp>
        <p:nvSpPr>
          <p:cNvPr id="9" name="TextBox 9"/>
          <p:cNvSpPr txBox="1"/>
          <p:nvPr/>
        </p:nvSpPr>
        <p:spPr>
          <a:xfrm>
            <a:off x="525724" y="2150749"/>
            <a:ext cx="5341676" cy="679450"/>
          </a:xfrm>
          <a:prstGeom prst="rect">
            <a:avLst/>
          </a:prstGeom>
        </p:spPr>
        <p:txBody>
          <a:bodyPr wrap="square" lIns="0" tIns="0" rIns="0" bIns="0" rtlCol="0" anchor="t">
            <a:spAutoFit/>
          </a:bodyPr>
          <a:lstStyle/>
          <a:p>
            <a:pPr marL="863596" lvl="1" indent="-431798" algn="ctr">
              <a:lnSpc>
                <a:spcPts val="5599"/>
              </a:lnSpc>
              <a:buFont typeface="Arial"/>
              <a:buChar char="•"/>
            </a:pPr>
            <a:r>
              <a:rPr lang="en-US" sz="3999" dirty="0" err="1">
                <a:solidFill>
                  <a:srgbClr val="9B4819"/>
                </a:solidFill>
                <a:latin typeface="標楷體" panose="03000509000000000000" pitchFamily="65" charset="-120"/>
                <a:ea typeface="標楷體" panose="03000509000000000000" pitchFamily="65" charset="-120"/>
              </a:rPr>
              <a:t>確定資料庫環境</a:t>
            </a:r>
            <a:endParaRPr lang="en-US" sz="3999" dirty="0">
              <a:solidFill>
                <a:srgbClr val="9B4819"/>
              </a:solidFill>
              <a:latin typeface="標楷體" panose="03000509000000000000" pitchFamily="65" charset="-120"/>
              <a:ea typeface="標楷體" panose="03000509000000000000" pitchFamily="65" charset="-120"/>
            </a:endParaRPr>
          </a:p>
        </p:txBody>
      </p:sp>
      <p:sp>
        <p:nvSpPr>
          <p:cNvPr id="10" name="TextBox 10"/>
          <p:cNvSpPr txBox="1"/>
          <p:nvPr/>
        </p:nvSpPr>
        <p:spPr>
          <a:xfrm>
            <a:off x="6219956" y="3055624"/>
            <a:ext cx="4676644" cy="679450"/>
          </a:xfrm>
          <a:prstGeom prst="rect">
            <a:avLst/>
          </a:prstGeom>
        </p:spPr>
        <p:txBody>
          <a:bodyPr wrap="square" lIns="0" tIns="0" rIns="0" bIns="0" rtlCol="0" anchor="t">
            <a:spAutoFit/>
          </a:bodyPr>
          <a:lstStyle/>
          <a:p>
            <a:pPr marL="863596" lvl="1" indent="-431798" algn="ctr">
              <a:lnSpc>
                <a:spcPts val="5599"/>
              </a:lnSpc>
              <a:buFont typeface="Arial"/>
              <a:buChar char="•"/>
            </a:pPr>
            <a:r>
              <a:rPr lang="en-US" sz="3999" dirty="0" err="1">
                <a:solidFill>
                  <a:srgbClr val="9B4819"/>
                </a:solidFill>
                <a:latin typeface="標楷體" panose="03000509000000000000" pitchFamily="65" charset="-120"/>
                <a:ea typeface="標楷體" panose="03000509000000000000" pitchFamily="65" charset="-120"/>
              </a:rPr>
              <a:t>插入資料</a:t>
            </a:r>
            <a:endParaRPr lang="en-US" sz="3999" dirty="0">
              <a:solidFill>
                <a:srgbClr val="9B4819"/>
              </a:solidFill>
              <a:latin typeface="標楷體" panose="03000509000000000000" pitchFamily="65" charset="-120"/>
              <a:ea typeface="標楷體" panose="03000509000000000000" pitchFamily="65"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flipV="1">
            <a:off x="1028709" y="1481489"/>
            <a:ext cx="15158545" cy="14073"/>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Freeform 3"/>
          <p:cNvSpPr/>
          <p:nvPr/>
        </p:nvSpPr>
        <p:spPr>
          <a:xfrm>
            <a:off x="10387523" y="4900480"/>
            <a:ext cx="6362428" cy="4868900"/>
          </a:xfrm>
          <a:custGeom>
            <a:avLst/>
            <a:gdLst/>
            <a:ahLst/>
            <a:cxnLst/>
            <a:rect l="l" t="t" r="r" b="b"/>
            <a:pathLst>
              <a:path w="6362428" h="4868900">
                <a:moveTo>
                  <a:pt x="0" y="0"/>
                </a:moveTo>
                <a:lnTo>
                  <a:pt x="6362428" y="0"/>
                </a:lnTo>
                <a:lnTo>
                  <a:pt x="6362428" y="4868901"/>
                </a:lnTo>
                <a:lnTo>
                  <a:pt x="0" y="4868901"/>
                </a:lnTo>
                <a:lnTo>
                  <a:pt x="0" y="0"/>
                </a:lnTo>
                <a:close/>
              </a:path>
            </a:pathLst>
          </a:custGeom>
          <a:blipFill>
            <a:blip r:embed="rId2"/>
            <a:stretch>
              <a:fillRect/>
            </a:stretch>
          </a:blipFill>
        </p:spPr>
        <p:txBody>
          <a:bodyPr/>
          <a:lstStyle/>
          <a:p>
            <a:endParaRPr lang="zh-TW" altLang="en-US" dirty="0">
              <a:latin typeface="標楷體" panose="03000509000000000000" pitchFamily="65" charset="-120"/>
            </a:endParaRPr>
          </a:p>
        </p:txBody>
      </p:sp>
      <p:sp>
        <p:nvSpPr>
          <p:cNvPr id="4" name="Freeform 4"/>
          <p:cNvSpPr/>
          <p:nvPr/>
        </p:nvSpPr>
        <p:spPr>
          <a:xfrm>
            <a:off x="1451673" y="4460930"/>
            <a:ext cx="6919064" cy="5308450"/>
          </a:xfrm>
          <a:custGeom>
            <a:avLst/>
            <a:gdLst/>
            <a:ahLst/>
            <a:cxnLst/>
            <a:rect l="l" t="t" r="r" b="b"/>
            <a:pathLst>
              <a:path w="6919064" h="5308450">
                <a:moveTo>
                  <a:pt x="0" y="0"/>
                </a:moveTo>
                <a:lnTo>
                  <a:pt x="6919063" y="0"/>
                </a:lnTo>
                <a:lnTo>
                  <a:pt x="6919063" y="5308451"/>
                </a:lnTo>
                <a:lnTo>
                  <a:pt x="0" y="5308451"/>
                </a:lnTo>
                <a:lnTo>
                  <a:pt x="0" y="0"/>
                </a:lnTo>
                <a:close/>
              </a:path>
            </a:pathLst>
          </a:custGeom>
          <a:blipFill>
            <a:blip r:embed="rId3"/>
            <a:stretch>
              <a:fillRect/>
            </a:stretch>
          </a:blipFill>
        </p:spPr>
        <p:txBody>
          <a:bodyPr/>
          <a:lstStyle/>
          <a:p>
            <a:endParaRPr lang="zh-TW" altLang="en-US" dirty="0">
              <a:latin typeface="標楷體" panose="03000509000000000000" pitchFamily="65" charset="-120"/>
            </a:endParaRPr>
          </a:p>
        </p:txBody>
      </p:sp>
      <p:sp>
        <p:nvSpPr>
          <p:cNvPr id="5" name="Freeform 5"/>
          <p:cNvSpPr/>
          <p:nvPr/>
        </p:nvSpPr>
        <p:spPr>
          <a:xfrm>
            <a:off x="11050361" y="2761708"/>
            <a:ext cx="4853403" cy="1756524"/>
          </a:xfrm>
          <a:custGeom>
            <a:avLst/>
            <a:gdLst/>
            <a:ahLst/>
            <a:cxnLst/>
            <a:rect l="l" t="t" r="r" b="b"/>
            <a:pathLst>
              <a:path w="4853403" h="1756524">
                <a:moveTo>
                  <a:pt x="0" y="0"/>
                </a:moveTo>
                <a:lnTo>
                  <a:pt x="4853402" y="0"/>
                </a:lnTo>
                <a:lnTo>
                  <a:pt x="4853402" y="1756524"/>
                </a:lnTo>
                <a:lnTo>
                  <a:pt x="0" y="1756524"/>
                </a:lnTo>
                <a:lnTo>
                  <a:pt x="0" y="0"/>
                </a:lnTo>
                <a:close/>
              </a:path>
            </a:pathLst>
          </a:custGeom>
          <a:blipFill>
            <a:blip r:embed="rId4"/>
            <a:stretch>
              <a:fillRect l="-26301"/>
            </a:stretch>
          </a:blipFill>
        </p:spPr>
        <p:txBody>
          <a:bodyPr/>
          <a:lstStyle/>
          <a:p>
            <a:endParaRPr lang="zh-TW" altLang="en-US" dirty="0">
              <a:latin typeface="標楷體" panose="03000509000000000000" pitchFamily="65" charset="-120"/>
            </a:endParaRPr>
          </a:p>
        </p:txBody>
      </p:sp>
      <p:grpSp>
        <p:nvGrpSpPr>
          <p:cNvPr id="6" name="Group 6"/>
          <p:cNvGrpSpPr/>
          <p:nvPr/>
        </p:nvGrpSpPr>
        <p:grpSpPr>
          <a:xfrm>
            <a:off x="8799361" y="6390047"/>
            <a:ext cx="1271455" cy="944884"/>
            <a:chOff x="0" y="0"/>
            <a:chExt cx="812800" cy="604033"/>
          </a:xfrm>
        </p:grpSpPr>
        <p:sp>
          <p:nvSpPr>
            <p:cNvPr id="7" name="Freeform 7"/>
            <p:cNvSpPr/>
            <p:nvPr/>
          </p:nvSpPr>
          <p:spPr>
            <a:xfrm>
              <a:off x="0" y="0"/>
              <a:ext cx="812800" cy="604033"/>
            </a:xfrm>
            <a:custGeom>
              <a:avLst/>
              <a:gdLst/>
              <a:ahLst/>
              <a:cxnLst/>
              <a:rect l="l" t="t" r="r" b="b"/>
              <a:pathLst>
                <a:path w="812800" h="604033">
                  <a:moveTo>
                    <a:pt x="812800" y="302017"/>
                  </a:moveTo>
                  <a:lnTo>
                    <a:pt x="406400" y="0"/>
                  </a:lnTo>
                  <a:lnTo>
                    <a:pt x="406400" y="203200"/>
                  </a:lnTo>
                  <a:lnTo>
                    <a:pt x="0" y="203200"/>
                  </a:lnTo>
                  <a:lnTo>
                    <a:pt x="0" y="400833"/>
                  </a:lnTo>
                  <a:lnTo>
                    <a:pt x="406400" y="400833"/>
                  </a:lnTo>
                  <a:lnTo>
                    <a:pt x="406400" y="604033"/>
                  </a:lnTo>
                  <a:lnTo>
                    <a:pt x="812800" y="302017"/>
                  </a:lnTo>
                  <a:close/>
                </a:path>
              </a:pathLst>
            </a:custGeom>
            <a:solidFill>
              <a:srgbClr val="9B4819"/>
            </a:solidFill>
          </p:spPr>
          <p:txBody>
            <a:bodyPr/>
            <a:lstStyle/>
            <a:p>
              <a:endParaRPr lang="zh-TW" altLang="en-US" dirty="0">
                <a:latin typeface="標楷體" panose="03000509000000000000" pitchFamily="65" charset="-120"/>
              </a:endParaRPr>
            </a:p>
          </p:txBody>
        </p:sp>
        <p:sp>
          <p:nvSpPr>
            <p:cNvPr id="8" name="TextBox 8"/>
            <p:cNvSpPr txBox="1"/>
            <p:nvPr/>
          </p:nvSpPr>
          <p:spPr>
            <a:xfrm>
              <a:off x="0" y="155575"/>
              <a:ext cx="711200" cy="245258"/>
            </a:xfrm>
            <a:prstGeom prst="rect">
              <a:avLst/>
            </a:prstGeom>
          </p:spPr>
          <p:txBody>
            <a:bodyPr lIns="50800" tIns="50800" rIns="50800" bIns="50800" rtlCol="0" anchor="ctr"/>
            <a:lstStyle/>
            <a:p>
              <a:pPr algn="ctr">
                <a:lnSpc>
                  <a:spcPts val="3080"/>
                </a:lnSpc>
              </a:pPr>
              <a:endParaRPr dirty="0">
                <a:latin typeface="標楷體" panose="03000509000000000000" pitchFamily="65" charset="-120"/>
              </a:endParaRPr>
            </a:p>
          </p:txBody>
        </p:sp>
      </p:grpSp>
      <p:grpSp>
        <p:nvGrpSpPr>
          <p:cNvPr id="9" name="Group 9"/>
          <p:cNvGrpSpPr/>
          <p:nvPr/>
        </p:nvGrpSpPr>
        <p:grpSpPr>
          <a:xfrm>
            <a:off x="11050361" y="8171770"/>
            <a:ext cx="5699590" cy="367952"/>
            <a:chOff x="0" y="0"/>
            <a:chExt cx="812800" cy="52472"/>
          </a:xfrm>
        </p:grpSpPr>
        <p:sp>
          <p:nvSpPr>
            <p:cNvPr id="10" name="Freeform 10"/>
            <p:cNvSpPr/>
            <p:nvPr/>
          </p:nvSpPr>
          <p:spPr>
            <a:xfrm>
              <a:off x="0" y="0"/>
              <a:ext cx="812800" cy="52472"/>
            </a:xfrm>
            <a:custGeom>
              <a:avLst/>
              <a:gdLst/>
              <a:ahLst/>
              <a:cxnLst/>
              <a:rect l="l" t="t" r="r" b="b"/>
              <a:pathLst>
                <a:path w="812800" h="52472">
                  <a:moveTo>
                    <a:pt x="609600" y="0"/>
                  </a:moveTo>
                  <a:lnTo>
                    <a:pt x="0" y="0"/>
                  </a:lnTo>
                  <a:lnTo>
                    <a:pt x="0" y="52472"/>
                  </a:lnTo>
                  <a:lnTo>
                    <a:pt x="609600" y="52472"/>
                  </a:lnTo>
                  <a:lnTo>
                    <a:pt x="812800" y="26236"/>
                  </a:lnTo>
                  <a:lnTo>
                    <a:pt x="609600" y="0"/>
                  </a:lnTo>
                  <a:close/>
                </a:path>
              </a:pathLst>
            </a:custGeom>
            <a:solidFill>
              <a:srgbClr val="F9FF00">
                <a:alpha val="35686"/>
              </a:srgbClr>
            </a:solidFill>
          </p:spPr>
          <p:txBody>
            <a:bodyPr/>
            <a:lstStyle/>
            <a:p>
              <a:endParaRPr lang="zh-TW" altLang="en-US" dirty="0">
                <a:latin typeface="標楷體" panose="03000509000000000000" pitchFamily="65" charset="-120"/>
              </a:endParaRPr>
            </a:p>
          </p:txBody>
        </p:sp>
        <p:sp>
          <p:nvSpPr>
            <p:cNvPr id="11" name="TextBox 11"/>
            <p:cNvSpPr txBox="1"/>
            <p:nvPr/>
          </p:nvSpPr>
          <p:spPr>
            <a:xfrm>
              <a:off x="0" y="-47625"/>
              <a:ext cx="698500" cy="100097"/>
            </a:xfrm>
            <a:prstGeom prst="rect">
              <a:avLst/>
            </a:prstGeom>
          </p:spPr>
          <p:txBody>
            <a:bodyPr lIns="50800" tIns="50800" rIns="50800" bIns="50800" rtlCol="0" anchor="ctr"/>
            <a:lstStyle/>
            <a:p>
              <a:pPr algn="ctr">
                <a:lnSpc>
                  <a:spcPts val="3080"/>
                </a:lnSpc>
              </a:pPr>
              <a:endParaRPr dirty="0">
                <a:latin typeface="標楷體" panose="03000509000000000000" pitchFamily="65" charset="-120"/>
              </a:endParaRPr>
            </a:p>
          </p:txBody>
        </p:sp>
      </p:grpSp>
      <p:sp>
        <p:nvSpPr>
          <p:cNvPr id="12" name="TextBox 12"/>
          <p:cNvSpPr txBox="1"/>
          <p:nvPr/>
        </p:nvSpPr>
        <p:spPr>
          <a:xfrm>
            <a:off x="1028709" y="223190"/>
            <a:ext cx="6638973" cy="1014097"/>
          </a:xfrm>
          <a:prstGeom prst="rect">
            <a:avLst/>
          </a:prstGeom>
        </p:spPr>
        <p:txBody>
          <a:bodyPr lIns="0" tIns="0" rIns="0" bIns="0" rtlCol="0" anchor="t">
            <a:spAutoFit/>
          </a:bodyPr>
          <a:lstStyle/>
          <a:p>
            <a:pPr marL="0" lvl="0" indent="0">
              <a:lnSpc>
                <a:spcPts val="7840"/>
              </a:lnSpc>
              <a:spcBef>
                <a:spcPct val="0"/>
              </a:spcBef>
            </a:pPr>
            <a:r>
              <a:rPr lang="en-US" sz="7000" dirty="0" err="1">
                <a:solidFill>
                  <a:srgbClr val="9B4819"/>
                </a:solidFill>
                <a:latin typeface="標楷體" panose="03000509000000000000" pitchFamily="65" charset="-120"/>
                <a:ea typeface="標楷體" panose="03000509000000000000" pitchFamily="65" charset="-120"/>
              </a:rPr>
              <a:t>測試資料庫功能</a:t>
            </a:r>
            <a:endParaRPr lang="en-US" sz="7000" dirty="0">
              <a:solidFill>
                <a:srgbClr val="9B4819"/>
              </a:solidFill>
              <a:latin typeface="標楷體" panose="03000509000000000000" pitchFamily="65" charset="-120"/>
              <a:ea typeface="標楷體" panose="03000509000000000000" pitchFamily="65" charset="-120"/>
            </a:endParaRPr>
          </a:p>
        </p:txBody>
      </p:sp>
      <p:sp>
        <p:nvSpPr>
          <p:cNvPr id="13" name="TextBox 13"/>
          <p:cNvSpPr txBox="1"/>
          <p:nvPr/>
        </p:nvSpPr>
        <p:spPr>
          <a:xfrm>
            <a:off x="264854" y="3100754"/>
            <a:ext cx="10238928" cy="674672"/>
          </a:xfrm>
          <a:prstGeom prst="rect">
            <a:avLst/>
          </a:prstGeom>
        </p:spPr>
        <p:txBody>
          <a:bodyPr lIns="0" tIns="0" rIns="0" bIns="0" rtlCol="0" anchor="t">
            <a:spAutoFit/>
          </a:bodyPr>
          <a:lstStyle/>
          <a:p>
            <a:pPr algn="ctr">
              <a:lnSpc>
                <a:spcPts val="5749"/>
              </a:lnSpc>
            </a:pPr>
            <a:r>
              <a:rPr lang="en-US" sz="4107" dirty="0">
                <a:solidFill>
                  <a:srgbClr val="9B4819"/>
                </a:solidFill>
                <a:latin typeface="標楷體" panose="03000509000000000000" pitchFamily="65" charset="-120"/>
                <a:ea typeface="標楷體" panose="03000509000000000000" pitchFamily="65" charset="-120"/>
              </a:rPr>
              <a:t>✓ </a:t>
            </a:r>
            <a:r>
              <a:rPr lang="en-US" sz="4107" dirty="0" err="1">
                <a:solidFill>
                  <a:srgbClr val="9B4819"/>
                </a:solidFill>
                <a:latin typeface="標楷體" panose="03000509000000000000" pitchFamily="65" charset="-120"/>
                <a:ea typeface="標楷體" panose="03000509000000000000" pitchFamily="65" charset="-120"/>
              </a:rPr>
              <a:t>使用者可設定自己的名稱，</a:t>
            </a:r>
            <a:r>
              <a:rPr lang="en-US" sz="4107" u="sng" dirty="0" err="1">
                <a:solidFill>
                  <a:srgbClr val="DD0000"/>
                </a:solidFill>
                <a:latin typeface="標楷體" panose="03000509000000000000" pitchFamily="65" charset="-120"/>
                <a:ea typeface="標楷體" panose="03000509000000000000" pitchFamily="65" charset="-120"/>
              </a:rPr>
              <a:t>日後可更改</a:t>
            </a:r>
            <a:endParaRPr lang="en-US" sz="4107" u="sng" dirty="0">
              <a:solidFill>
                <a:srgbClr val="DD0000"/>
              </a:solidFill>
              <a:latin typeface="標楷體" panose="03000509000000000000" pitchFamily="65" charset="-120"/>
              <a:ea typeface="標楷體" panose="03000509000000000000" pitchFamily="65" charset="-120"/>
            </a:endParaRPr>
          </a:p>
        </p:txBody>
      </p:sp>
      <p:grpSp>
        <p:nvGrpSpPr>
          <p:cNvPr id="14" name="Group 14"/>
          <p:cNvGrpSpPr/>
          <p:nvPr/>
        </p:nvGrpSpPr>
        <p:grpSpPr>
          <a:xfrm>
            <a:off x="2222046" y="7987794"/>
            <a:ext cx="5699590" cy="367952"/>
            <a:chOff x="0" y="0"/>
            <a:chExt cx="812800" cy="52472"/>
          </a:xfrm>
        </p:grpSpPr>
        <p:sp>
          <p:nvSpPr>
            <p:cNvPr id="15" name="Freeform 15"/>
            <p:cNvSpPr/>
            <p:nvPr/>
          </p:nvSpPr>
          <p:spPr>
            <a:xfrm>
              <a:off x="0" y="0"/>
              <a:ext cx="812800" cy="52472"/>
            </a:xfrm>
            <a:custGeom>
              <a:avLst/>
              <a:gdLst/>
              <a:ahLst/>
              <a:cxnLst/>
              <a:rect l="l" t="t" r="r" b="b"/>
              <a:pathLst>
                <a:path w="812800" h="52472">
                  <a:moveTo>
                    <a:pt x="609600" y="0"/>
                  </a:moveTo>
                  <a:lnTo>
                    <a:pt x="0" y="0"/>
                  </a:lnTo>
                  <a:lnTo>
                    <a:pt x="0" y="52472"/>
                  </a:lnTo>
                  <a:lnTo>
                    <a:pt x="609600" y="52472"/>
                  </a:lnTo>
                  <a:lnTo>
                    <a:pt x="812800" y="26236"/>
                  </a:lnTo>
                  <a:lnTo>
                    <a:pt x="609600" y="0"/>
                  </a:lnTo>
                  <a:close/>
                </a:path>
              </a:pathLst>
            </a:custGeom>
            <a:solidFill>
              <a:srgbClr val="F9FF00">
                <a:alpha val="35686"/>
              </a:srgbClr>
            </a:solidFill>
          </p:spPr>
          <p:txBody>
            <a:bodyPr/>
            <a:lstStyle/>
            <a:p>
              <a:endParaRPr lang="zh-TW" altLang="en-US" dirty="0">
                <a:latin typeface="標楷體" panose="03000509000000000000" pitchFamily="65" charset="-120"/>
              </a:endParaRPr>
            </a:p>
          </p:txBody>
        </p:sp>
        <p:sp>
          <p:nvSpPr>
            <p:cNvPr id="16" name="TextBox 16"/>
            <p:cNvSpPr txBox="1"/>
            <p:nvPr/>
          </p:nvSpPr>
          <p:spPr>
            <a:xfrm>
              <a:off x="0" y="-47625"/>
              <a:ext cx="698500" cy="100097"/>
            </a:xfrm>
            <a:prstGeom prst="rect">
              <a:avLst/>
            </a:prstGeom>
          </p:spPr>
          <p:txBody>
            <a:bodyPr lIns="50800" tIns="50800" rIns="50800" bIns="50800" rtlCol="0" anchor="ctr"/>
            <a:lstStyle/>
            <a:p>
              <a:pPr algn="ctr">
                <a:lnSpc>
                  <a:spcPts val="3080"/>
                </a:lnSpc>
              </a:pPr>
              <a:endParaRPr dirty="0">
                <a:latin typeface="標楷體" panose="03000509000000000000" pitchFamily="65" charset="-120"/>
              </a:endParaRPr>
            </a:p>
          </p:txBody>
        </p:sp>
      </p:grpSp>
      <p:sp>
        <p:nvSpPr>
          <p:cNvPr id="17" name="TextBox 17"/>
          <p:cNvSpPr txBox="1"/>
          <p:nvPr/>
        </p:nvSpPr>
        <p:spPr>
          <a:xfrm>
            <a:off x="754670" y="1825083"/>
            <a:ext cx="4156535" cy="936625"/>
          </a:xfrm>
          <a:prstGeom prst="rect">
            <a:avLst/>
          </a:prstGeom>
        </p:spPr>
        <p:txBody>
          <a:bodyPr lIns="0" tIns="0" rIns="0" bIns="0" rtlCol="0" anchor="t">
            <a:spAutoFit/>
          </a:bodyPr>
          <a:lstStyle/>
          <a:p>
            <a:pPr marL="1187448" lvl="1" indent="-593724" algn="ctr">
              <a:lnSpc>
                <a:spcPts val="7699"/>
              </a:lnSpc>
              <a:buFont typeface="Arial"/>
              <a:buChar char="•"/>
            </a:pPr>
            <a:r>
              <a:rPr lang="en-US" sz="5499" dirty="0" err="1">
                <a:solidFill>
                  <a:srgbClr val="9B4819"/>
                </a:solidFill>
                <a:latin typeface="標楷體" panose="03000509000000000000" pitchFamily="65" charset="-120"/>
                <a:ea typeface="標楷體" panose="03000509000000000000" pitchFamily="65" charset="-120"/>
              </a:rPr>
              <a:t>資料更新</a:t>
            </a:r>
            <a:endParaRPr lang="en-US" sz="5499" dirty="0">
              <a:solidFill>
                <a:srgbClr val="9B4819"/>
              </a:solidFill>
              <a:latin typeface="標楷體" panose="03000509000000000000" pitchFamily="65" charset="-120"/>
              <a:ea typeface="標楷體" panose="03000509000000000000" pitchFamily="65" charset="-12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sp>
        <p:nvSpPr>
          <p:cNvPr id="2" name="AutoShape 2"/>
          <p:cNvSpPr/>
          <p:nvPr/>
        </p:nvSpPr>
        <p:spPr>
          <a:xfrm flipV="1">
            <a:off x="1028709" y="1481489"/>
            <a:ext cx="15158545" cy="14073"/>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3" name="Freeform 3"/>
          <p:cNvSpPr/>
          <p:nvPr/>
        </p:nvSpPr>
        <p:spPr>
          <a:xfrm>
            <a:off x="1291510" y="7129774"/>
            <a:ext cx="15967781" cy="2128526"/>
          </a:xfrm>
          <a:custGeom>
            <a:avLst/>
            <a:gdLst/>
            <a:ahLst/>
            <a:cxnLst/>
            <a:rect l="l" t="t" r="r" b="b"/>
            <a:pathLst>
              <a:path w="15967781" h="2128526">
                <a:moveTo>
                  <a:pt x="0" y="0"/>
                </a:moveTo>
                <a:lnTo>
                  <a:pt x="15967781" y="0"/>
                </a:lnTo>
                <a:lnTo>
                  <a:pt x="15967781" y="2128526"/>
                </a:lnTo>
                <a:lnTo>
                  <a:pt x="0" y="2128526"/>
                </a:lnTo>
                <a:lnTo>
                  <a:pt x="0" y="0"/>
                </a:lnTo>
                <a:close/>
              </a:path>
            </a:pathLst>
          </a:custGeom>
          <a:blipFill>
            <a:blip r:embed="rId2"/>
            <a:stretch>
              <a:fillRect l="-1645" t="-8949" b="-5986"/>
            </a:stretch>
          </a:blipFill>
        </p:spPr>
        <p:txBody>
          <a:bodyPr/>
          <a:lstStyle/>
          <a:p>
            <a:endParaRPr lang="zh-TW" altLang="en-US" dirty="0">
              <a:latin typeface="標楷體" panose="03000509000000000000" pitchFamily="65" charset="-120"/>
            </a:endParaRPr>
          </a:p>
        </p:txBody>
      </p:sp>
      <p:sp>
        <p:nvSpPr>
          <p:cNvPr id="4" name="Freeform 4"/>
          <p:cNvSpPr/>
          <p:nvPr/>
        </p:nvSpPr>
        <p:spPr>
          <a:xfrm>
            <a:off x="1291510" y="4276639"/>
            <a:ext cx="11446306" cy="2386409"/>
          </a:xfrm>
          <a:custGeom>
            <a:avLst/>
            <a:gdLst/>
            <a:ahLst/>
            <a:cxnLst/>
            <a:rect l="l" t="t" r="r" b="b"/>
            <a:pathLst>
              <a:path w="11446306" h="2386409">
                <a:moveTo>
                  <a:pt x="0" y="0"/>
                </a:moveTo>
                <a:lnTo>
                  <a:pt x="11446307" y="0"/>
                </a:lnTo>
                <a:lnTo>
                  <a:pt x="11446307" y="2386410"/>
                </a:lnTo>
                <a:lnTo>
                  <a:pt x="0" y="2386410"/>
                </a:lnTo>
                <a:lnTo>
                  <a:pt x="0" y="0"/>
                </a:lnTo>
                <a:close/>
              </a:path>
            </a:pathLst>
          </a:custGeom>
          <a:blipFill>
            <a:blip r:embed="rId3"/>
            <a:stretch>
              <a:fillRect l="-10708" r="-3323"/>
            </a:stretch>
          </a:blipFill>
        </p:spPr>
        <p:txBody>
          <a:bodyPr/>
          <a:lstStyle/>
          <a:p>
            <a:endParaRPr lang="zh-TW" altLang="en-US" dirty="0">
              <a:latin typeface="標楷體" panose="03000509000000000000" pitchFamily="65" charset="-120"/>
            </a:endParaRPr>
          </a:p>
        </p:txBody>
      </p:sp>
      <p:sp>
        <p:nvSpPr>
          <p:cNvPr id="5" name="TextBox 5"/>
          <p:cNvSpPr txBox="1"/>
          <p:nvPr/>
        </p:nvSpPr>
        <p:spPr>
          <a:xfrm>
            <a:off x="1028709" y="223190"/>
            <a:ext cx="6638973" cy="1014097"/>
          </a:xfrm>
          <a:prstGeom prst="rect">
            <a:avLst/>
          </a:prstGeom>
        </p:spPr>
        <p:txBody>
          <a:bodyPr lIns="0" tIns="0" rIns="0" bIns="0" rtlCol="0" anchor="t">
            <a:spAutoFit/>
          </a:bodyPr>
          <a:lstStyle/>
          <a:p>
            <a:pPr marL="0" lvl="0" indent="0">
              <a:lnSpc>
                <a:spcPts val="7840"/>
              </a:lnSpc>
              <a:spcBef>
                <a:spcPct val="0"/>
              </a:spcBef>
            </a:pPr>
            <a:r>
              <a:rPr lang="en-US" sz="7000" dirty="0" err="1">
                <a:solidFill>
                  <a:srgbClr val="9B4819"/>
                </a:solidFill>
                <a:latin typeface="標楷體" panose="03000509000000000000" pitchFamily="65" charset="-120"/>
                <a:ea typeface="標楷體" panose="03000509000000000000" pitchFamily="65" charset="-120"/>
              </a:rPr>
              <a:t>測試資料庫功能</a:t>
            </a:r>
            <a:endParaRPr lang="en-US" sz="7000" dirty="0">
              <a:solidFill>
                <a:srgbClr val="9B4819"/>
              </a:solidFill>
              <a:latin typeface="標楷體" panose="03000509000000000000" pitchFamily="65" charset="-120"/>
              <a:ea typeface="標楷體" panose="03000509000000000000" pitchFamily="65" charset="-120"/>
            </a:endParaRPr>
          </a:p>
        </p:txBody>
      </p:sp>
      <p:sp>
        <p:nvSpPr>
          <p:cNvPr id="6" name="TextBox 6"/>
          <p:cNvSpPr txBox="1"/>
          <p:nvPr/>
        </p:nvSpPr>
        <p:spPr>
          <a:xfrm>
            <a:off x="-347467" y="3104608"/>
            <a:ext cx="10238928" cy="674672"/>
          </a:xfrm>
          <a:prstGeom prst="rect">
            <a:avLst/>
          </a:prstGeom>
        </p:spPr>
        <p:txBody>
          <a:bodyPr lIns="0" tIns="0" rIns="0" bIns="0" rtlCol="0" anchor="t">
            <a:spAutoFit/>
          </a:bodyPr>
          <a:lstStyle/>
          <a:p>
            <a:pPr algn="ctr">
              <a:lnSpc>
                <a:spcPts val="5749"/>
              </a:lnSpc>
            </a:pPr>
            <a:r>
              <a:rPr lang="en-US" sz="4107" dirty="0">
                <a:solidFill>
                  <a:srgbClr val="9B4819"/>
                </a:solidFill>
                <a:latin typeface="標楷體" panose="03000509000000000000" pitchFamily="65" charset="-120"/>
                <a:ea typeface="標楷體" panose="03000509000000000000" pitchFamily="65" charset="-120"/>
              </a:rPr>
              <a:t>✓ </a:t>
            </a:r>
            <a:r>
              <a:rPr lang="en-US" sz="4107" u="sng" dirty="0" err="1">
                <a:solidFill>
                  <a:srgbClr val="DD0000"/>
                </a:solidFill>
                <a:latin typeface="標楷體" panose="03000509000000000000" pitchFamily="65" charset="-120"/>
                <a:ea typeface="標楷體" panose="03000509000000000000" pitchFamily="65" charset="-120"/>
              </a:rPr>
              <a:t>使用者可利用食材查詢食譜</a:t>
            </a:r>
            <a:endParaRPr lang="en-US" sz="4107" u="sng" dirty="0">
              <a:solidFill>
                <a:srgbClr val="DD0000"/>
              </a:solidFill>
              <a:latin typeface="標楷體" panose="03000509000000000000" pitchFamily="65" charset="-120"/>
              <a:ea typeface="標楷體" panose="03000509000000000000" pitchFamily="65" charset="-120"/>
            </a:endParaRPr>
          </a:p>
        </p:txBody>
      </p:sp>
      <p:sp>
        <p:nvSpPr>
          <p:cNvPr id="7" name="TextBox 7"/>
          <p:cNvSpPr txBox="1"/>
          <p:nvPr/>
        </p:nvSpPr>
        <p:spPr>
          <a:xfrm>
            <a:off x="915307" y="1827010"/>
            <a:ext cx="4156535" cy="936625"/>
          </a:xfrm>
          <a:prstGeom prst="rect">
            <a:avLst/>
          </a:prstGeom>
        </p:spPr>
        <p:txBody>
          <a:bodyPr lIns="0" tIns="0" rIns="0" bIns="0" rtlCol="0" anchor="t">
            <a:spAutoFit/>
          </a:bodyPr>
          <a:lstStyle/>
          <a:p>
            <a:pPr algn="ctr">
              <a:lnSpc>
                <a:spcPts val="7699"/>
              </a:lnSpc>
            </a:pPr>
            <a:r>
              <a:rPr lang="en-US" sz="5499" dirty="0">
                <a:solidFill>
                  <a:srgbClr val="9B4819"/>
                </a:solidFill>
                <a:latin typeface="標楷體" panose="03000509000000000000" pitchFamily="65" charset="-120"/>
                <a:ea typeface="標楷體" panose="03000509000000000000" pitchFamily="65" charset="-120"/>
              </a:rPr>
              <a:t>2.查詢系統</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9B4819"/>
        </a:solidFill>
        <a:effectLst/>
      </p:bgPr>
    </p:bg>
    <p:spTree>
      <p:nvGrpSpPr>
        <p:cNvPr id="1" name=""/>
        <p:cNvGrpSpPr/>
        <p:nvPr/>
      </p:nvGrpSpPr>
      <p:grpSpPr>
        <a:xfrm>
          <a:off x="0" y="0"/>
          <a:ext cx="0" cy="0"/>
          <a:chOff x="0" y="0"/>
          <a:chExt cx="0" cy="0"/>
        </a:xfrm>
      </p:grpSpPr>
      <p:grpSp>
        <p:nvGrpSpPr>
          <p:cNvPr id="2" name="Group 2"/>
          <p:cNvGrpSpPr/>
          <p:nvPr/>
        </p:nvGrpSpPr>
        <p:grpSpPr>
          <a:xfrm>
            <a:off x="9144000" y="-265660"/>
            <a:ext cx="9176523" cy="10818321"/>
            <a:chOff x="0" y="0"/>
            <a:chExt cx="2416862" cy="2849270"/>
          </a:xfrm>
        </p:grpSpPr>
        <p:sp>
          <p:nvSpPr>
            <p:cNvPr id="3" name="Freeform 3"/>
            <p:cNvSpPr/>
            <p:nvPr/>
          </p:nvSpPr>
          <p:spPr>
            <a:xfrm>
              <a:off x="0" y="0"/>
              <a:ext cx="2416862" cy="2849270"/>
            </a:xfrm>
            <a:custGeom>
              <a:avLst/>
              <a:gdLst/>
              <a:ahLst/>
              <a:cxnLst/>
              <a:rect l="l" t="t" r="r" b="b"/>
              <a:pathLst>
                <a:path w="2416862" h="2849270">
                  <a:moveTo>
                    <a:pt x="0" y="0"/>
                  </a:moveTo>
                  <a:lnTo>
                    <a:pt x="2416862" y="0"/>
                  </a:lnTo>
                  <a:lnTo>
                    <a:pt x="2416862" y="2849270"/>
                  </a:lnTo>
                  <a:lnTo>
                    <a:pt x="0" y="2849270"/>
                  </a:lnTo>
                  <a:close/>
                </a:path>
              </a:pathLst>
            </a:custGeom>
            <a:solidFill>
              <a:srgbClr val="F4F1E8"/>
            </a:solidFill>
          </p:spPr>
          <p:txBody>
            <a:bodyPr/>
            <a:lstStyle/>
            <a:p>
              <a:endParaRPr lang="zh-TW" altLang="en-US" dirty="0">
                <a:latin typeface="標楷體" panose="03000509000000000000" pitchFamily="65" charset="-120"/>
              </a:endParaRPr>
            </a:p>
          </p:txBody>
        </p:sp>
        <p:sp>
          <p:nvSpPr>
            <p:cNvPr id="4" name="TextBox 4"/>
            <p:cNvSpPr txBox="1"/>
            <p:nvPr/>
          </p:nvSpPr>
          <p:spPr>
            <a:xfrm>
              <a:off x="0" y="-9525"/>
              <a:ext cx="2416862" cy="2858795"/>
            </a:xfrm>
            <a:prstGeom prst="rect">
              <a:avLst/>
            </a:prstGeom>
          </p:spPr>
          <p:txBody>
            <a:bodyPr lIns="50800" tIns="50800" rIns="50800" bIns="50800" rtlCol="0" anchor="ctr"/>
            <a:lstStyle/>
            <a:p>
              <a:pPr algn="ctr">
                <a:lnSpc>
                  <a:spcPts val="1872"/>
                </a:lnSpc>
              </a:pPr>
              <a:endParaRPr dirty="0">
                <a:latin typeface="標楷體" panose="03000509000000000000" pitchFamily="65" charset="-120"/>
              </a:endParaRPr>
            </a:p>
          </p:txBody>
        </p:sp>
      </p:grpSp>
      <p:sp>
        <p:nvSpPr>
          <p:cNvPr id="5" name="AutoShape 5"/>
          <p:cNvSpPr/>
          <p:nvPr/>
        </p:nvSpPr>
        <p:spPr>
          <a:xfrm>
            <a:off x="5487032" y="9774396"/>
            <a:ext cx="7313936" cy="0"/>
          </a:xfrm>
          <a:prstGeom prst="line">
            <a:avLst/>
          </a:prstGeom>
          <a:ln w="19050" cap="flat">
            <a:solidFill>
              <a:srgbClr val="BD8F53"/>
            </a:solidFill>
            <a:prstDash val="solid"/>
            <a:headEnd type="none" w="sm" len="sm"/>
            <a:tailEnd type="none" w="sm" len="sm"/>
          </a:ln>
        </p:spPr>
        <p:txBody>
          <a:bodyPr/>
          <a:lstStyle/>
          <a:p>
            <a:endParaRPr lang="zh-TW" altLang="en-US" dirty="0">
              <a:latin typeface="標楷體" panose="03000509000000000000" pitchFamily="65" charset="-120"/>
            </a:endParaRPr>
          </a:p>
        </p:txBody>
      </p:sp>
      <p:sp>
        <p:nvSpPr>
          <p:cNvPr id="6" name="Freeform 6"/>
          <p:cNvSpPr/>
          <p:nvPr/>
        </p:nvSpPr>
        <p:spPr>
          <a:xfrm>
            <a:off x="158263" y="223407"/>
            <a:ext cx="6171179" cy="2468472"/>
          </a:xfrm>
          <a:custGeom>
            <a:avLst/>
            <a:gdLst/>
            <a:ahLst/>
            <a:cxnLst/>
            <a:rect l="l" t="t" r="r" b="b"/>
            <a:pathLst>
              <a:path w="6171179" h="2468472">
                <a:moveTo>
                  <a:pt x="0" y="0"/>
                </a:moveTo>
                <a:lnTo>
                  <a:pt x="6171179" y="0"/>
                </a:lnTo>
                <a:lnTo>
                  <a:pt x="6171179" y="2468472"/>
                </a:lnTo>
                <a:lnTo>
                  <a:pt x="0" y="24684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TW" altLang="en-US" dirty="0">
              <a:latin typeface="標楷體" panose="03000509000000000000" pitchFamily="65" charset="-120"/>
            </a:endParaRPr>
          </a:p>
        </p:txBody>
      </p:sp>
      <p:sp>
        <p:nvSpPr>
          <p:cNvPr id="7" name="TextBox 7"/>
          <p:cNvSpPr txBox="1"/>
          <p:nvPr/>
        </p:nvSpPr>
        <p:spPr>
          <a:xfrm>
            <a:off x="1028700" y="974407"/>
            <a:ext cx="6629734" cy="1014097"/>
          </a:xfrm>
          <a:prstGeom prst="rect">
            <a:avLst/>
          </a:prstGeom>
        </p:spPr>
        <p:txBody>
          <a:bodyPr lIns="0" tIns="0" rIns="0" bIns="0" rtlCol="0" anchor="t">
            <a:spAutoFit/>
          </a:bodyPr>
          <a:lstStyle/>
          <a:p>
            <a:pPr>
              <a:lnSpc>
                <a:spcPts val="7840"/>
              </a:lnSpc>
            </a:pPr>
            <a:r>
              <a:rPr lang="en-US" sz="7000" dirty="0" err="1">
                <a:solidFill>
                  <a:srgbClr val="F4F1E8"/>
                </a:solidFill>
                <a:latin typeface="標楷體" panose="03000509000000000000" pitchFamily="65" charset="-120"/>
                <a:ea typeface="標楷體" panose="03000509000000000000" pitchFamily="65" charset="-120"/>
              </a:rPr>
              <a:t>結論與感想</a:t>
            </a:r>
            <a:endParaRPr lang="en-US" sz="7000" dirty="0">
              <a:solidFill>
                <a:srgbClr val="F4F1E8"/>
              </a:solidFill>
              <a:latin typeface="標楷體" panose="03000509000000000000" pitchFamily="65" charset="-120"/>
              <a:ea typeface="標楷體" panose="03000509000000000000" pitchFamily="65" charset="-120"/>
            </a:endParaRPr>
          </a:p>
        </p:txBody>
      </p:sp>
      <p:sp>
        <p:nvSpPr>
          <p:cNvPr id="8" name="TextBox 8"/>
          <p:cNvSpPr txBox="1"/>
          <p:nvPr/>
        </p:nvSpPr>
        <p:spPr>
          <a:xfrm>
            <a:off x="9736590" y="1106488"/>
            <a:ext cx="7991344" cy="7959725"/>
          </a:xfrm>
          <a:prstGeom prst="rect">
            <a:avLst/>
          </a:prstGeom>
        </p:spPr>
        <p:txBody>
          <a:bodyPr lIns="0" tIns="0" rIns="0" bIns="0" rtlCol="0" anchor="t">
            <a:spAutoFit/>
          </a:bodyPr>
          <a:lstStyle/>
          <a:p>
            <a:pPr algn="ctr">
              <a:lnSpc>
                <a:spcPts val="7000"/>
              </a:lnSpc>
            </a:pPr>
            <a:r>
              <a:rPr lang="en-US" sz="5000" dirty="0">
                <a:solidFill>
                  <a:srgbClr val="BD8F53"/>
                </a:solidFill>
                <a:latin typeface="標楷體" panose="03000509000000000000" pitchFamily="65" charset="-120"/>
                <a:ea typeface="標楷體" panose="03000509000000000000" pitchFamily="65" charset="-120"/>
              </a:rPr>
              <a:t>在這次的報告中我們學習到個體間關聯的分析與如何建立屬於自己的DataBase，雖然過程中難免遇到許多的問題，卻也使我們能夠獨立進行思考並提升自己的能力，或許有很多地方依然不完善，這也將成為我們之後要學習與深入的課題。</a:t>
            </a:r>
          </a:p>
        </p:txBody>
      </p:sp>
      <p:sp>
        <p:nvSpPr>
          <p:cNvPr id="9" name="TextBox 9"/>
          <p:cNvSpPr txBox="1"/>
          <p:nvPr/>
        </p:nvSpPr>
        <p:spPr>
          <a:xfrm>
            <a:off x="0" y="2926160"/>
            <a:ext cx="9410490" cy="2339975"/>
          </a:xfrm>
          <a:prstGeom prst="rect">
            <a:avLst/>
          </a:prstGeom>
        </p:spPr>
        <p:txBody>
          <a:bodyPr lIns="0" tIns="0" rIns="0" bIns="0" rtlCol="0" anchor="t">
            <a:spAutoFit/>
          </a:bodyPr>
          <a:lstStyle/>
          <a:p>
            <a:pPr algn="ctr">
              <a:lnSpc>
                <a:spcPts val="7049"/>
              </a:lnSpc>
            </a:pPr>
            <a:r>
              <a:rPr lang="en-US" sz="4999" dirty="0">
                <a:solidFill>
                  <a:srgbClr val="F4F1E8"/>
                </a:solidFill>
                <a:latin typeface="標楷體" panose="03000509000000000000" pitchFamily="65" charset="-120"/>
                <a:ea typeface="標楷體" panose="03000509000000000000" pitchFamily="65" charset="-120"/>
              </a:rPr>
              <a:t>➢</a:t>
            </a:r>
            <a:r>
              <a:rPr lang="en-US" sz="4999" dirty="0" err="1">
                <a:solidFill>
                  <a:srgbClr val="F4F1E8"/>
                </a:solidFill>
                <a:latin typeface="標楷體" panose="03000509000000000000" pitchFamily="65" charset="-120"/>
                <a:ea typeface="標楷體" panose="03000509000000000000" pitchFamily="65" charset="-120"/>
              </a:rPr>
              <a:t>分析個體間關連不夠完善</a:t>
            </a:r>
            <a:r>
              <a:rPr lang="en-US" sz="4999" dirty="0">
                <a:solidFill>
                  <a:srgbClr val="F4F1E8"/>
                </a:solidFill>
                <a:latin typeface="標楷體" panose="03000509000000000000" pitchFamily="65" charset="-120"/>
                <a:ea typeface="標楷體" panose="03000509000000000000" pitchFamily="65" charset="-120"/>
              </a:rPr>
              <a:t> </a:t>
            </a:r>
          </a:p>
          <a:p>
            <a:pPr algn="ctr">
              <a:lnSpc>
                <a:spcPts val="5449"/>
              </a:lnSpc>
            </a:pPr>
            <a:r>
              <a:rPr lang="en-US" sz="4999" dirty="0" err="1">
                <a:solidFill>
                  <a:srgbClr val="F4F1E8"/>
                </a:solidFill>
                <a:latin typeface="標楷體" panose="03000509000000000000" pitchFamily="65" charset="-120"/>
                <a:ea typeface="標楷體" panose="03000509000000000000" pitchFamily="65" charset="-120"/>
              </a:rPr>
              <a:t>EX.查詢表格無實質性用途</a:t>
            </a:r>
            <a:r>
              <a:rPr lang="en-US" sz="4999" dirty="0">
                <a:solidFill>
                  <a:srgbClr val="F4F1E8"/>
                </a:solidFill>
                <a:latin typeface="標楷體" panose="03000509000000000000" pitchFamily="65" charset="-120"/>
                <a:ea typeface="標楷體" panose="03000509000000000000" pitchFamily="65" charset="-120"/>
              </a:rPr>
              <a:t>、</a:t>
            </a:r>
          </a:p>
          <a:p>
            <a:pPr algn="ctr">
              <a:lnSpc>
                <a:spcPts val="5449"/>
              </a:lnSpc>
            </a:pPr>
            <a:r>
              <a:rPr lang="en-US" sz="4999" dirty="0" err="1">
                <a:solidFill>
                  <a:srgbClr val="F4F1E8"/>
                </a:solidFill>
                <a:latin typeface="標楷體" panose="03000509000000000000" pitchFamily="65" charset="-120"/>
                <a:ea typeface="標楷體" panose="03000509000000000000" pitchFamily="65" charset="-120"/>
              </a:rPr>
              <a:t>表格欄位過於相似</a:t>
            </a:r>
            <a:endParaRPr lang="en-US" sz="4999" dirty="0">
              <a:solidFill>
                <a:srgbClr val="F4F1E8"/>
              </a:solidFill>
              <a:latin typeface="標楷體" panose="03000509000000000000" pitchFamily="65" charset="-120"/>
              <a:ea typeface="標楷體" panose="03000509000000000000" pitchFamily="65" charset="-120"/>
            </a:endParaRPr>
          </a:p>
        </p:txBody>
      </p:sp>
      <p:sp>
        <p:nvSpPr>
          <p:cNvPr id="10" name="TextBox 10"/>
          <p:cNvSpPr txBox="1"/>
          <p:nvPr/>
        </p:nvSpPr>
        <p:spPr>
          <a:xfrm>
            <a:off x="0" y="8110935"/>
            <a:ext cx="9410490" cy="1149351"/>
          </a:xfrm>
          <a:prstGeom prst="rect">
            <a:avLst/>
          </a:prstGeom>
        </p:spPr>
        <p:txBody>
          <a:bodyPr lIns="0" tIns="0" rIns="0" bIns="0" rtlCol="0" anchor="t">
            <a:spAutoFit/>
          </a:bodyPr>
          <a:lstStyle/>
          <a:p>
            <a:pPr algn="ctr">
              <a:lnSpc>
                <a:spcPts val="9999"/>
              </a:lnSpc>
            </a:pPr>
            <a:r>
              <a:rPr lang="en-US" sz="4999" dirty="0">
                <a:solidFill>
                  <a:srgbClr val="F4F1E8"/>
                </a:solidFill>
                <a:latin typeface="標楷體" panose="03000509000000000000" pitchFamily="65" charset="-120"/>
                <a:ea typeface="標楷體" panose="03000509000000000000" pitchFamily="65" charset="-120"/>
              </a:rPr>
              <a:t>➢</a:t>
            </a:r>
            <a:r>
              <a:rPr lang="en-US" sz="4999" dirty="0" err="1">
                <a:solidFill>
                  <a:srgbClr val="F4F1E8"/>
                </a:solidFill>
                <a:latin typeface="標楷體" panose="03000509000000000000" pitchFamily="65" charset="-120"/>
                <a:ea typeface="標楷體" panose="03000509000000000000" pitchFamily="65" charset="-120"/>
              </a:rPr>
              <a:t>前端及後端的連結尚未建立</a:t>
            </a:r>
            <a:endParaRPr lang="en-US" sz="4999" dirty="0">
              <a:solidFill>
                <a:srgbClr val="F4F1E8"/>
              </a:solidFill>
              <a:latin typeface="標楷體" panose="03000509000000000000" pitchFamily="65" charset="-120"/>
              <a:ea typeface="標楷體" panose="03000509000000000000" pitchFamily="65" charset="-120"/>
            </a:endParaRPr>
          </a:p>
        </p:txBody>
      </p:sp>
      <p:sp>
        <p:nvSpPr>
          <p:cNvPr id="11" name="TextBox 11"/>
          <p:cNvSpPr txBox="1"/>
          <p:nvPr/>
        </p:nvSpPr>
        <p:spPr>
          <a:xfrm>
            <a:off x="431760" y="5513785"/>
            <a:ext cx="8546971" cy="2635250"/>
          </a:xfrm>
          <a:prstGeom prst="rect">
            <a:avLst/>
          </a:prstGeom>
        </p:spPr>
        <p:txBody>
          <a:bodyPr lIns="0" tIns="0" rIns="0" bIns="0" rtlCol="0" anchor="t">
            <a:spAutoFit/>
          </a:bodyPr>
          <a:lstStyle/>
          <a:p>
            <a:pPr algn="ctr">
              <a:lnSpc>
                <a:spcPts val="6999"/>
              </a:lnSpc>
            </a:pPr>
            <a:r>
              <a:rPr lang="en-US" sz="4999" dirty="0">
                <a:solidFill>
                  <a:srgbClr val="F4F1E8"/>
                </a:solidFill>
                <a:latin typeface="標楷體" panose="03000509000000000000" pitchFamily="65" charset="-120"/>
                <a:ea typeface="標楷體" panose="03000509000000000000" pitchFamily="65" charset="-120"/>
              </a:rPr>
              <a:t>➢</a:t>
            </a:r>
            <a:r>
              <a:rPr lang="en-US" sz="4999" dirty="0" err="1">
                <a:solidFill>
                  <a:srgbClr val="F4F1E8"/>
                </a:solidFill>
                <a:latin typeface="標楷體" panose="03000509000000000000" pitchFamily="65" charset="-120"/>
                <a:ea typeface="標楷體" panose="03000509000000000000" pitchFamily="65" charset="-120"/>
              </a:rPr>
              <a:t>此次資料庫是我們自己建立，筆數不多的同時限制了使用者所能查詢的範圍</a:t>
            </a:r>
            <a:endParaRPr lang="en-US" sz="4999" dirty="0">
              <a:solidFill>
                <a:srgbClr val="F4F1E8"/>
              </a:solidFill>
              <a:latin typeface="標楷體" panose="03000509000000000000" pitchFamily="65" charset="-120"/>
              <a:ea typeface="標楷體" panose="03000509000000000000" pitchFamily="65" charset="-12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D8F53"/>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867834379"/>
              </p:ext>
            </p:extLst>
          </p:nvPr>
        </p:nvGraphicFramePr>
        <p:xfrm>
          <a:off x="3525480" y="9525"/>
          <a:ext cx="14762520" cy="10277474"/>
        </p:xfrm>
        <a:graphic>
          <a:graphicData uri="http://schemas.openxmlformats.org/drawingml/2006/table">
            <a:tbl>
              <a:tblPr/>
              <a:tblGrid>
                <a:gridCol w="3109847">
                  <a:extLst>
                    <a:ext uri="{9D8B030D-6E8A-4147-A177-3AD203B41FA5}">
                      <a16:colId xmlns:a16="http://schemas.microsoft.com/office/drawing/2014/main" val="20000"/>
                    </a:ext>
                  </a:extLst>
                </a:gridCol>
                <a:gridCol w="11652673">
                  <a:extLst>
                    <a:ext uri="{9D8B030D-6E8A-4147-A177-3AD203B41FA5}">
                      <a16:colId xmlns:a16="http://schemas.microsoft.com/office/drawing/2014/main" val="20001"/>
                    </a:ext>
                  </a:extLst>
                </a:gridCol>
              </a:tblGrid>
              <a:tr h="2539699">
                <a:tc>
                  <a:txBody>
                    <a:bodyPr/>
                    <a:lstStyle/>
                    <a:p>
                      <a:pPr algn="ctr">
                        <a:lnSpc>
                          <a:spcPts val="4619"/>
                        </a:lnSpc>
                        <a:defRPr/>
                      </a:pPr>
                      <a:r>
                        <a:rPr lang="en-US" sz="3299" dirty="0">
                          <a:solidFill>
                            <a:srgbClr val="9B4819"/>
                          </a:solidFill>
                          <a:latin typeface="標楷體" panose="03000509000000000000" pitchFamily="65" charset="-120"/>
                          <a:ea typeface="標楷體" panose="03000509000000000000" pitchFamily="65" charset="-120"/>
                        </a:rPr>
                        <a:t>411770349</a:t>
                      </a:r>
                    </a:p>
                    <a:p>
                      <a:pPr algn="ctr">
                        <a:lnSpc>
                          <a:spcPts val="4619"/>
                        </a:lnSpc>
                        <a:defRPr/>
                      </a:pPr>
                      <a:r>
                        <a:rPr lang="en-US" sz="3299" dirty="0">
                          <a:solidFill>
                            <a:srgbClr val="9B4819"/>
                          </a:solidFill>
                          <a:latin typeface="標楷體" panose="03000509000000000000" pitchFamily="65" charset="-120"/>
                          <a:ea typeface="標楷體" panose="03000509000000000000" pitchFamily="65" charset="-120"/>
                        </a:rPr>
                        <a:t>黃妤涵   </a:t>
                      </a:r>
                      <a:endParaRPr lang="en-US" sz="1100" dirty="0">
                        <a:latin typeface="標楷體" panose="03000509000000000000" pitchFamily="65" charset="-120"/>
                      </a:endParaRPr>
                    </a:p>
                  </a:txBody>
                  <a:tcPr marL="190500" marR="190500" marT="190500" marB="190500" anchor="ctr">
                    <a:lnL w="0" cap="flat" cmpd="sng" algn="ctr">
                      <a:solidFill>
                        <a:srgbClr val="BD8F53"/>
                      </a:solidFill>
                      <a:prstDash val="solid"/>
                      <a:round/>
                      <a:headEnd type="none" w="med" len="med"/>
                      <a:tailEnd type="none" w="med" len="med"/>
                    </a:lnL>
                    <a:lnR w="19050" cap="flat" cmpd="sng" algn="ctr">
                      <a:solidFill>
                        <a:srgbClr val="BD8F53"/>
                      </a:solidFill>
                      <a:prstDash val="solid"/>
                      <a:round/>
                      <a:headEnd type="none" w="med" len="med"/>
                      <a:tailEnd type="none" w="med" len="med"/>
                    </a:lnR>
                    <a:lnT w="0" cap="flat" cmpd="sng" algn="ctr">
                      <a:solidFill>
                        <a:srgbClr val="BD8F53"/>
                      </a:solidFill>
                      <a:prstDash val="solid"/>
                      <a:round/>
                      <a:headEnd type="none" w="med" len="med"/>
                      <a:tailEnd type="none" w="med" len="med"/>
                    </a:lnT>
                    <a:lnB w="19050" cap="flat" cmpd="sng" algn="ctr">
                      <a:solidFill>
                        <a:srgbClr val="BD8F53"/>
                      </a:solidFill>
                      <a:prstDash val="solid"/>
                      <a:round/>
                      <a:headEnd type="none" w="med" len="med"/>
                      <a:tailEnd type="none" w="med" len="med"/>
                    </a:lnB>
                    <a:solidFill>
                      <a:srgbClr val="F4F1E8"/>
                    </a:solidFill>
                  </a:tcPr>
                </a:tc>
                <a:tc>
                  <a:txBody>
                    <a:bodyPr/>
                    <a:lstStyle/>
                    <a:p>
                      <a:pPr algn="ctr">
                        <a:lnSpc>
                          <a:spcPts val="4619"/>
                        </a:lnSpc>
                        <a:defRPr/>
                      </a:pPr>
                      <a:r>
                        <a:rPr lang="en-US" sz="3299" dirty="0" err="1">
                          <a:solidFill>
                            <a:srgbClr val="9B4819"/>
                          </a:solidFill>
                          <a:latin typeface="標楷體" panose="03000509000000000000" pitchFamily="65" charset="-120"/>
                          <a:ea typeface="標楷體" panose="03000509000000000000" pitchFamily="65" charset="-120"/>
                        </a:rPr>
                        <a:t>程式碼、書面報告、口頭報告</a:t>
                      </a:r>
                      <a:endParaRPr lang="en-US" sz="1100" dirty="0"/>
                    </a:p>
                  </a:txBody>
                  <a:tcPr marL="190500" marR="190500" marT="190500" marB="190500" anchor="ctr">
                    <a:lnL w="19050" cap="flat" cmpd="sng" algn="ctr">
                      <a:solidFill>
                        <a:srgbClr val="BD8F53"/>
                      </a:solidFill>
                      <a:prstDash val="solid"/>
                      <a:round/>
                      <a:headEnd type="none" w="med" len="med"/>
                      <a:tailEnd type="none" w="med" len="med"/>
                    </a:lnL>
                    <a:lnR w="0" cap="flat" cmpd="sng" algn="ctr">
                      <a:solidFill>
                        <a:srgbClr val="BD8F53"/>
                      </a:solidFill>
                      <a:prstDash val="solid"/>
                      <a:round/>
                      <a:headEnd type="none" w="med" len="med"/>
                      <a:tailEnd type="none" w="med" len="med"/>
                    </a:lnR>
                    <a:lnT w="0" cap="flat" cmpd="sng" algn="ctr">
                      <a:solidFill>
                        <a:srgbClr val="BD8F53"/>
                      </a:solidFill>
                      <a:prstDash val="solid"/>
                      <a:round/>
                      <a:headEnd type="none" w="med" len="med"/>
                      <a:tailEnd type="none" w="med" len="med"/>
                    </a:lnT>
                    <a:lnB w="19050" cap="flat" cmpd="sng" algn="ctr">
                      <a:solidFill>
                        <a:srgbClr val="BD8F53"/>
                      </a:solidFill>
                      <a:prstDash val="solid"/>
                      <a:round/>
                      <a:headEnd type="none" w="med" len="med"/>
                      <a:tailEnd type="none" w="med" len="med"/>
                    </a:lnB>
                    <a:solidFill>
                      <a:srgbClr val="F4F1E8"/>
                    </a:solidFill>
                  </a:tcPr>
                </a:tc>
                <a:extLst>
                  <a:ext uri="{0D108BD9-81ED-4DB2-BD59-A6C34878D82A}">
                    <a16:rowId xmlns:a16="http://schemas.microsoft.com/office/drawing/2014/main" val="10000"/>
                  </a:ext>
                </a:extLst>
              </a:tr>
              <a:tr h="2539699">
                <a:tc>
                  <a:txBody>
                    <a:bodyPr/>
                    <a:lstStyle/>
                    <a:p>
                      <a:pPr algn="ctr">
                        <a:lnSpc>
                          <a:spcPts val="4619"/>
                        </a:lnSpc>
                        <a:defRPr/>
                      </a:pPr>
                      <a:r>
                        <a:rPr lang="en-US" sz="3299" dirty="0">
                          <a:solidFill>
                            <a:srgbClr val="9B4819"/>
                          </a:solidFill>
                          <a:latin typeface="標楷體" panose="03000509000000000000" pitchFamily="65" charset="-120"/>
                          <a:ea typeface="標楷體" panose="03000509000000000000" pitchFamily="65" charset="-120"/>
                        </a:rPr>
                        <a:t>411770521</a:t>
                      </a:r>
                    </a:p>
                    <a:p>
                      <a:pPr algn="ctr">
                        <a:lnSpc>
                          <a:spcPts val="4619"/>
                        </a:lnSpc>
                        <a:defRPr/>
                      </a:pPr>
                      <a:r>
                        <a:rPr lang="en-US" sz="3299" dirty="0" err="1">
                          <a:solidFill>
                            <a:srgbClr val="9B4819"/>
                          </a:solidFill>
                          <a:latin typeface="標楷體" panose="03000509000000000000" pitchFamily="65" charset="-120"/>
                          <a:ea typeface="標楷體" panose="03000509000000000000" pitchFamily="65" charset="-120"/>
                        </a:rPr>
                        <a:t>繆語</a:t>
                      </a:r>
                      <a:endParaRPr lang="en-US" sz="1100" dirty="0">
                        <a:latin typeface="標楷體" panose="03000509000000000000" pitchFamily="65" charset="-120"/>
                      </a:endParaRPr>
                    </a:p>
                  </a:txBody>
                  <a:tcPr marL="190500" marR="190500" marT="190500" marB="190500" anchor="ctr">
                    <a:lnL w="0" cap="flat" cmpd="sng" algn="ctr">
                      <a:solidFill>
                        <a:srgbClr val="BD8F53"/>
                      </a:solidFill>
                      <a:prstDash val="solid"/>
                      <a:round/>
                      <a:headEnd type="none" w="med" len="med"/>
                      <a:tailEnd type="none" w="med" len="med"/>
                    </a:lnL>
                    <a:lnR w="19050" cap="flat" cmpd="sng" algn="ctr">
                      <a:solidFill>
                        <a:srgbClr val="BD8F53"/>
                      </a:solidFill>
                      <a:prstDash val="solid"/>
                      <a:round/>
                      <a:headEnd type="none" w="med" len="med"/>
                      <a:tailEnd type="none" w="med" len="med"/>
                    </a:lnR>
                    <a:lnT w="19050" cap="flat" cmpd="sng" algn="ctr">
                      <a:solidFill>
                        <a:srgbClr val="BD8F53"/>
                      </a:solidFill>
                      <a:prstDash val="solid"/>
                      <a:round/>
                      <a:headEnd type="none" w="med" len="med"/>
                      <a:tailEnd type="none" w="med" len="med"/>
                    </a:lnT>
                    <a:lnB w="19050" cap="flat" cmpd="sng" algn="ctr">
                      <a:solidFill>
                        <a:srgbClr val="BD8F53"/>
                      </a:solidFill>
                      <a:prstDash val="solid"/>
                      <a:round/>
                      <a:headEnd type="none" w="med" len="med"/>
                      <a:tailEnd type="none" w="med" len="med"/>
                    </a:lnB>
                    <a:solidFill>
                      <a:srgbClr val="F4F1E8"/>
                    </a:solidFill>
                  </a:tcPr>
                </a:tc>
                <a:tc>
                  <a:txBody>
                    <a:bodyPr/>
                    <a:lstStyle/>
                    <a:p>
                      <a:pPr algn="ctr">
                        <a:lnSpc>
                          <a:spcPts val="4619"/>
                        </a:lnSpc>
                        <a:defRPr/>
                      </a:pPr>
                      <a:r>
                        <a:rPr lang="en-US" sz="3299" dirty="0" err="1">
                          <a:solidFill>
                            <a:srgbClr val="9B4819"/>
                          </a:solidFill>
                          <a:latin typeface="標楷體" panose="03000509000000000000" pitchFamily="65" charset="-120"/>
                          <a:ea typeface="標楷體" panose="03000509000000000000" pitchFamily="65" charset="-120"/>
                        </a:rPr>
                        <a:t>主題發想、PPT製作、口頭報告</a:t>
                      </a:r>
                      <a:endParaRPr lang="en-US" sz="1100" dirty="0">
                        <a:latin typeface="標楷體" panose="03000509000000000000" pitchFamily="65" charset="-120"/>
                      </a:endParaRPr>
                    </a:p>
                  </a:txBody>
                  <a:tcPr marL="190500" marR="190500" marT="190500" marB="190500" anchor="ctr">
                    <a:lnL w="19050" cap="flat" cmpd="sng" algn="ctr">
                      <a:solidFill>
                        <a:srgbClr val="BD8F53"/>
                      </a:solidFill>
                      <a:prstDash val="solid"/>
                      <a:round/>
                      <a:headEnd type="none" w="med" len="med"/>
                      <a:tailEnd type="none" w="med" len="med"/>
                    </a:lnL>
                    <a:lnR w="0" cap="flat" cmpd="sng" algn="ctr">
                      <a:solidFill>
                        <a:srgbClr val="BD8F53"/>
                      </a:solidFill>
                      <a:prstDash val="solid"/>
                      <a:round/>
                      <a:headEnd type="none" w="med" len="med"/>
                      <a:tailEnd type="none" w="med" len="med"/>
                    </a:lnR>
                    <a:lnT w="19050" cap="flat" cmpd="sng" algn="ctr">
                      <a:solidFill>
                        <a:srgbClr val="BD8F53"/>
                      </a:solidFill>
                      <a:prstDash val="solid"/>
                      <a:round/>
                      <a:headEnd type="none" w="med" len="med"/>
                      <a:tailEnd type="none" w="med" len="med"/>
                    </a:lnT>
                    <a:lnB w="19050" cap="flat" cmpd="sng" algn="ctr">
                      <a:solidFill>
                        <a:srgbClr val="BD8F53"/>
                      </a:solidFill>
                      <a:prstDash val="solid"/>
                      <a:round/>
                      <a:headEnd type="none" w="med" len="med"/>
                      <a:tailEnd type="none" w="med" len="med"/>
                    </a:lnB>
                    <a:solidFill>
                      <a:srgbClr val="F4F1E8"/>
                    </a:solidFill>
                  </a:tcPr>
                </a:tc>
                <a:extLst>
                  <a:ext uri="{0D108BD9-81ED-4DB2-BD59-A6C34878D82A}">
                    <a16:rowId xmlns:a16="http://schemas.microsoft.com/office/drawing/2014/main" val="10001"/>
                  </a:ext>
                </a:extLst>
              </a:tr>
              <a:tr h="2539699">
                <a:tc>
                  <a:txBody>
                    <a:bodyPr/>
                    <a:lstStyle/>
                    <a:p>
                      <a:pPr algn="ctr">
                        <a:lnSpc>
                          <a:spcPts val="4619"/>
                        </a:lnSpc>
                        <a:defRPr/>
                      </a:pPr>
                      <a:r>
                        <a:rPr lang="en-US" sz="3299" dirty="0">
                          <a:solidFill>
                            <a:srgbClr val="9B4819"/>
                          </a:solidFill>
                          <a:latin typeface="標楷體" panose="03000509000000000000" pitchFamily="65" charset="-120"/>
                          <a:ea typeface="標楷體" panose="03000509000000000000" pitchFamily="65" charset="-120"/>
                        </a:rPr>
                        <a:t>411770547</a:t>
                      </a:r>
                    </a:p>
                    <a:p>
                      <a:pPr algn="ctr">
                        <a:lnSpc>
                          <a:spcPts val="4619"/>
                        </a:lnSpc>
                        <a:defRPr/>
                      </a:pPr>
                      <a:r>
                        <a:rPr lang="en-US" sz="3299" dirty="0" err="1">
                          <a:solidFill>
                            <a:srgbClr val="9B4819"/>
                          </a:solidFill>
                          <a:latin typeface="標楷體" panose="03000509000000000000" pitchFamily="65" charset="-120"/>
                          <a:ea typeface="標楷體" panose="03000509000000000000" pitchFamily="65" charset="-120"/>
                        </a:rPr>
                        <a:t>李佩臻</a:t>
                      </a:r>
                      <a:endParaRPr lang="en-US" sz="1100" dirty="0">
                        <a:latin typeface="標楷體" panose="03000509000000000000" pitchFamily="65" charset="-120"/>
                      </a:endParaRPr>
                    </a:p>
                  </a:txBody>
                  <a:tcPr marL="190500" marR="190500" marT="190500" marB="190500" anchor="ctr">
                    <a:lnL w="0" cap="flat" cmpd="sng" algn="ctr">
                      <a:solidFill>
                        <a:srgbClr val="BD8F53"/>
                      </a:solidFill>
                      <a:prstDash val="solid"/>
                      <a:round/>
                      <a:headEnd type="none" w="med" len="med"/>
                      <a:tailEnd type="none" w="med" len="med"/>
                    </a:lnL>
                    <a:lnR w="19050" cap="flat" cmpd="sng" algn="ctr">
                      <a:solidFill>
                        <a:srgbClr val="BD8F53"/>
                      </a:solidFill>
                      <a:prstDash val="solid"/>
                      <a:round/>
                      <a:headEnd type="none" w="med" len="med"/>
                      <a:tailEnd type="none" w="med" len="med"/>
                    </a:lnR>
                    <a:lnT w="19050" cap="flat" cmpd="sng" algn="ctr">
                      <a:solidFill>
                        <a:srgbClr val="BD8F53"/>
                      </a:solidFill>
                      <a:prstDash val="solid"/>
                      <a:round/>
                      <a:headEnd type="none" w="med" len="med"/>
                      <a:tailEnd type="none" w="med" len="med"/>
                    </a:lnT>
                    <a:lnB w="19050" cap="flat" cmpd="sng" algn="ctr">
                      <a:solidFill>
                        <a:srgbClr val="BD8F53"/>
                      </a:solidFill>
                      <a:prstDash val="solid"/>
                      <a:round/>
                      <a:headEnd type="none" w="med" len="med"/>
                      <a:tailEnd type="none" w="med" len="med"/>
                    </a:lnB>
                    <a:solidFill>
                      <a:srgbClr val="F4F1E8"/>
                    </a:solidFill>
                  </a:tcPr>
                </a:tc>
                <a:tc>
                  <a:txBody>
                    <a:bodyPr/>
                    <a:lstStyle/>
                    <a:p>
                      <a:pPr algn="ctr">
                        <a:lnSpc>
                          <a:spcPts val="4619"/>
                        </a:lnSpc>
                        <a:defRPr/>
                      </a:pPr>
                      <a:r>
                        <a:rPr lang="en-US" sz="3299" dirty="0" err="1">
                          <a:solidFill>
                            <a:srgbClr val="9B4819"/>
                          </a:solidFill>
                          <a:latin typeface="標楷體" panose="03000509000000000000" pitchFamily="65" charset="-120"/>
                          <a:ea typeface="標楷體" panose="03000509000000000000" pitchFamily="65" charset="-120"/>
                        </a:rPr>
                        <a:t>書面報告、PPT製作、口頭報告</a:t>
                      </a:r>
                      <a:endParaRPr lang="en-US" sz="1100" dirty="0">
                        <a:latin typeface="標楷體" panose="03000509000000000000" pitchFamily="65" charset="-120"/>
                      </a:endParaRPr>
                    </a:p>
                  </a:txBody>
                  <a:tcPr marL="190500" marR="190500" marT="190500" marB="190500" anchor="ctr">
                    <a:lnL w="19050" cap="flat" cmpd="sng" algn="ctr">
                      <a:solidFill>
                        <a:srgbClr val="BD8F53"/>
                      </a:solidFill>
                      <a:prstDash val="solid"/>
                      <a:round/>
                      <a:headEnd type="none" w="med" len="med"/>
                      <a:tailEnd type="none" w="med" len="med"/>
                    </a:lnL>
                    <a:lnR w="0" cap="flat" cmpd="sng" algn="ctr">
                      <a:solidFill>
                        <a:srgbClr val="BD8F53"/>
                      </a:solidFill>
                      <a:prstDash val="solid"/>
                      <a:round/>
                      <a:headEnd type="none" w="med" len="med"/>
                      <a:tailEnd type="none" w="med" len="med"/>
                    </a:lnR>
                    <a:lnT w="19050" cap="flat" cmpd="sng" algn="ctr">
                      <a:solidFill>
                        <a:srgbClr val="BD8F53"/>
                      </a:solidFill>
                      <a:prstDash val="solid"/>
                      <a:round/>
                      <a:headEnd type="none" w="med" len="med"/>
                      <a:tailEnd type="none" w="med" len="med"/>
                    </a:lnT>
                    <a:lnB w="19050" cap="flat" cmpd="sng" algn="ctr">
                      <a:solidFill>
                        <a:srgbClr val="BD8F53"/>
                      </a:solidFill>
                      <a:prstDash val="solid"/>
                      <a:round/>
                      <a:headEnd type="none" w="med" len="med"/>
                      <a:tailEnd type="none" w="med" len="med"/>
                    </a:lnB>
                    <a:solidFill>
                      <a:srgbClr val="F4F1E8"/>
                    </a:solidFill>
                  </a:tcPr>
                </a:tc>
                <a:extLst>
                  <a:ext uri="{0D108BD9-81ED-4DB2-BD59-A6C34878D82A}">
                    <a16:rowId xmlns:a16="http://schemas.microsoft.com/office/drawing/2014/main" val="10002"/>
                  </a:ext>
                </a:extLst>
              </a:tr>
              <a:tr h="2658377">
                <a:tc>
                  <a:txBody>
                    <a:bodyPr/>
                    <a:lstStyle/>
                    <a:p>
                      <a:pPr algn="ctr">
                        <a:lnSpc>
                          <a:spcPts val="4619"/>
                        </a:lnSpc>
                        <a:defRPr/>
                      </a:pPr>
                      <a:r>
                        <a:rPr lang="en-US" sz="3299" dirty="0">
                          <a:solidFill>
                            <a:srgbClr val="9B4819"/>
                          </a:solidFill>
                          <a:latin typeface="標楷體" panose="03000509000000000000" pitchFamily="65" charset="-120"/>
                          <a:ea typeface="標楷體" panose="03000509000000000000" pitchFamily="65" charset="-120"/>
                        </a:rPr>
                        <a:t>411770927</a:t>
                      </a:r>
                    </a:p>
                    <a:p>
                      <a:pPr algn="ctr">
                        <a:lnSpc>
                          <a:spcPts val="4619"/>
                        </a:lnSpc>
                        <a:defRPr/>
                      </a:pPr>
                      <a:r>
                        <a:rPr lang="en-US" sz="3299" dirty="0" err="1">
                          <a:solidFill>
                            <a:srgbClr val="9B4819"/>
                          </a:solidFill>
                          <a:latin typeface="標楷體" panose="03000509000000000000" pitchFamily="65" charset="-120"/>
                          <a:ea typeface="標楷體" panose="03000509000000000000" pitchFamily="65" charset="-120"/>
                        </a:rPr>
                        <a:t>褚亞誠</a:t>
                      </a:r>
                      <a:endParaRPr lang="en-US" sz="1100" dirty="0">
                        <a:latin typeface="標楷體" panose="03000509000000000000" pitchFamily="65" charset="-120"/>
                      </a:endParaRPr>
                    </a:p>
                  </a:txBody>
                  <a:tcPr marL="190500" marR="190500" marT="190500" marB="190500" anchor="ctr">
                    <a:lnL w="0" cap="flat" cmpd="sng" algn="ctr">
                      <a:solidFill>
                        <a:srgbClr val="BD8F53"/>
                      </a:solidFill>
                      <a:prstDash val="solid"/>
                      <a:round/>
                      <a:headEnd type="none" w="med" len="med"/>
                      <a:tailEnd type="none" w="med" len="med"/>
                    </a:lnL>
                    <a:lnR w="19050" cap="flat" cmpd="sng" algn="ctr">
                      <a:solidFill>
                        <a:srgbClr val="BD8F53"/>
                      </a:solidFill>
                      <a:prstDash val="solid"/>
                      <a:round/>
                      <a:headEnd type="none" w="med" len="med"/>
                      <a:tailEnd type="none" w="med" len="med"/>
                    </a:lnR>
                    <a:lnT w="19050" cap="flat" cmpd="sng" algn="ctr">
                      <a:solidFill>
                        <a:srgbClr val="BD8F53"/>
                      </a:solidFill>
                      <a:prstDash val="solid"/>
                      <a:round/>
                      <a:headEnd type="none" w="med" len="med"/>
                      <a:tailEnd type="none" w="med" len="med"/>
                    </a:lnT>
                    <a:lnB w="0" cap="flat" cmpd="sng" algn="ctr">
                      <a:solidFill>
                        <a:srgbClr val="BD8F53"/>
                      </a:solidFill>
                      <a:prstDash val="solid"/>
                      <a:round/>
                      <a:headEnd type="none" w="med" len="med"/>
                      <a:tailEnd type="none" w="med" len="med"/>
                    </a:lnB>
                    <a:solidFill>
                      <a:srgbClr val="F4F1E8"/>
                    </a:solidFill>
                  </a:tcPr>
                </a:tc>
                <a:tc>
                  <a:txBody>
                    <a:bodyPr/>
                    <a:lstStyle/>
                    <a:p>
                      <a:pPr algn="ctr">
                        <a:lnSpc>
                          <a:spcPts val="4619"/>
                        </a:lnSpc>
                        <a:defRPr/>
                      </a:pPr>
                      <a:r>
                        <a:rPr lang="en-US" sz="3299" dirty="0" err="1">
                          <a:solidFill>
                            <a:srgbClr val="9B4819"/>
                          </a:solidFill>
                          <a:latin typeface="標楷體" panose="03000509000000000000" pitchFamily="65" charset="-120"/>
                          <a:ea typeface="標楷體" panose="03000509000000000000" pitchFamily="65" charset="-120"/>
                        </a:rPr>
                        <a:t>PPT製作、口頭報告</a:t>
                      </a:r>
                      <a:endParaRPr lang="en-US" sz="1100" dirty="0">
                        <a:latin typeface="標楷體" panose="03000509000000000000" pitchFamily="65" charset="-120"/>
                      </a:endParaRPr>
                    </a:p>
                  </a:txBody>
                  <a:tcPr marL="190500" marR="190500" marT="190500" marB="190500" anchor="ctr">
                    <a:lnL w="19050" cap="flat" cmpd="sng" algn="ctr">
                      <a:solidFill>
                        <a:srgbClr val="BD8F53"/>
                      </a:solidFill>
                      <a:prstDash val="solid"/>
                      <a:round/>
                      <a:headEnd type="none" w="med" len="med"/>
                      <a:tailEnd type="none" w="med" len="med"/>
                    </a:lnL>
                    <a:lnR w="0" cap="flat" cmpd="sng" algn="ctr">
                      <a:solidFill>
                        <a:srgbClr val="BD8F53"/>
                      </a:solidFill>
                      <a:prstDash val="solid"/>
                      <a:round/>
                      <a:headEnd type="none" w="med" len="med"/>
                      <a:tailEnd type="none" w="med" len="med"/>
                    </a:lnR>
                    <a:lnT w="19050" cap="flat" cmpd="sng" algn="ctr">
                      <a:solidFill>
                        <a:srgbClr val="BD8F53"/>
                      </a:solidFill>
                      <a:prstDash val="solid"/>
                      <a:round/>
                      <a:headEnd type="none" w="med" len="med"/>
                      <a:tailEnd type="none" w="med" len="med"/>
                    </a:lnT>
                    <a:lnB w="0" cap="flat" cmpd="sng" algn="ctr">
                      <a:solidFill>
                        <a:srgbClr val="BD8F53"/>
                      </a:solidFill>
                      <a:prstDash val="solid"/>
                      <a:round/>
                      <a:headEnd type="none" w="med" len="med"/>
                      <a:tailEnd type="none" w="med" len="med"/>
                    </a:lnB>
                    <a:solidFill>
                      <a:srgbClr val="F4F1E8"/>
                    </a:solidFill>
                  </a:tcPr>
                </a:tc>
                <a:extLst>
                  <a:ext uri="{0D108BD9-81ED-4DB2-BD59-A6C34878D82A}">
                    <a16:rowId xmlns:a16="http://schemas.microsoft.com/office/drawing/2014/main" val="10003"/>
                  </a:ext>
                </a:extLst>
              </a:tr>
            </a:tbl>
          </a:graphicData>
        </a:graphic>
      </p:graphicFrame>
      <p:sp>
        <p:nvSpPr>
          <p:cNvPr id="3" name="TextBox 3"/>
          <p:cNvSpPr txBox="1"/>
          <p:nvPr/>
        </p:nvSpPr>
        <p:spPr>
          <a:xfrm>
            <a:off x="1028700" y="1081088"/>
            <a:ext cx="1510539" cy="8540800"/>
          </a:xfrm>
          <a:prstGeom prst="rect">
            <a:avLst/>
          </a:prstGeom>
        </p:spPr>
        <p:txBody>
          <a:bodyPr lIns="0" tIns="0" rIns="0" bIns="0" rtlCol="0" anchor="t">
            <a:spAutoFit/>
          </a:bodyPr>
          <a:lstStyle/>
          <a:p>
            <a:pPr>
              <a:lnSpc>
                <a:spcPts val="11116"/>
              </a:lnSpc>
              <a:spcBef>
                <a:spcPct val="0"/>
              </a:spcBef>
            </a:pPr>
            <a:r>
              <a:rPr lang="en-US" sz="9925" dirty="0" err="1">
                <a:solidFill>
                  <a:srgbClr val="F4F1E8"/>
                </a:solidFill>
                <a:latin typeface="標楷體" panose="03000509000000000000" pitchFamily="65" charset="-120"/>
                <a:ea typeface="標楷體" panose="03000509000000000000" pitchFamily="65" charset="-120"/>
              </a:rPr>
              <a:t>組員工作分配</a:t>
            </a:r>
            <a:endParaRPr lang="en-US" sz="9925" dirty="0">
              <a:solidFill>
                <a:srgbClr val="F4F1E8"/>
              </a:solidFill>
              <a:latin typeface="標楷體" panose="03000509000000000000" pitchFamily="65" charset="-120"/>
              <a:ea typeface="標楷體" panose="03000509000000000000" pitchFamily="65" charset="-120"/>
            </a:endParaRPr>
          </a:p>
        </p:txBody>
      </p:sp>
      <p:sp>
        <p:nvSpPr>
          <p:cNvPr id="4" name="AutoShape 4"/>
          <p:cNvSpPr/>
          <p:nvPr/>
        </p:nvSpPr>
        <p:spPr>
          <a:xfrm flipV="1">
            <a:off x="3030180" y="1028700"/>
            <a:ext cx="0" cy="8287831"/>
          </a:xfrm>
          <a:prstGeom prst="line">
            <a:avLst/>
          </a:prstGeom>
          <a:ln w="19050" cap="flat">
            <a:solidFill>
              <a:srgbClr val="F4F1E8"/>
            </a:solidFill>
            <a:prstDash val="solid"/>
            <a:headEnd type="none" w="sm" len="sm"/>
            <a:tailEnd type="none" w="sm" len="sm"/>
          </a:ln>
        </p:spPr>
        <p:txBody>
          <a:bodyPr/>
          <a:lstStyle/>
          <a:p>
            <a:endParaRPr lang="zh-TW" altLang="en-US" dirty="0">
              <a:latin typeface="標楷體" panose="03000509000000000000" pitchFamily="65"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TotalTime>
  <Words>211</Words>
  <Application>Microsoft Office PowerPoint</Application>
  <PresentationFormat>自訂</PresentationFormat>
  <Paragraphs>74</Paragraphs>
  <Slides>16</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標楷體</vt:lpstr>
      <vt:lpstr>Times New Roman</vt:lpstr>
      <vt:lpstr>Arial</vt:lpstr>
      <vt:lpstr>Calibri</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資料庫報告</dc:title>
  <cp:lastModifiedBy>黃妤涵</cp:lastModifiedBy>
  <cp:revision>5</cp:revision>
  <dcterms:created xsi:type="dcterms:W3CDTF">2006-08-16T00:00:00Z</dcterms:created>
  <dcterms:modified xsi:type="dcterms:W3CDTF">2024-01-05T15:08:32Z</dcterms:modified>
  <dc:identifier>DAF3cJ3AyqA</dc:identifier>
</cp:coreProperties>
</file>